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hospital stay, patients and family caregivers may be sent home with pages of instructions. ClearCare helps make those next steps easier to understand and organize, while keeping the care team’s original words in 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starts with a discharge PDF. ClearCare reads text-based documents in the browser. The demonstration uses synthetic patient details, and uploaded files are not saved to an account.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extracted instruction stays connected to its source wording. Families can see the original line alongside the organized plan, instead of having to trust a summary on its 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AI action is explicit. Nothing is sent just because the page opened. When a person chooses Explain simply, ClearCare sends only the selected instruction to the backend, which calls AMD Developer Cloud Token Factory using DeepSeek V4 Flash.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instruction is ambiguous, missing a unit, conflicting, or involves a high-risk medicine, ClearCare routes it for review. It does not silently choose a direction, confirm an item, or schedule an incomplete appointment.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care plan uses a straightforward checklist, with separate checkboxes for separate tasks. Confirmed follow-ups can appear on the calendar and be exported as an ICS file. Items that still need review are not eligible for scheduling.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ClearCare includes English, Spanish, and Hindi settings, plus a Today view with a readable transcript and browser-based voice controls. People can type or speak a question and edit the text before sending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runs through AMD Developer Cloud Token Factory, not locally through ROCm. The key remains on the backend. ClearCare is a prototype organizer and explainer, not a clinician, and the care team remains the source of medical direction.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ClearCare makes the next steps after discharge easier to see, understand, and organize. This is a synthetic-data prototype for the AMD Developer Hackathon. It does not diagnose or prescribe, and it never replaces guidance from the care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293C"/>
        </a:solidFill>
        <a:effectLst/>
      </p:bgPr>
    </p:bg>
    <p:spTree>
      <p:nvGrpSpPr>
        <p:cNvPr id="1" name=""/>
        <p:cNvGrpSpPr/>
        <p:nvPr/>
      </p:nvGrpSpPr>
      <p:grpSpPr/>
      <p:pic>
        <p:nvPicPr>
          <p:cNvPr id="2" name="Picture 1" descr="co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6"/>
        </a:solidFill>
        <a:effectLst/>
      </p:bgPr>
    </p:bg>
    <p:spTree>
      <p:nvGrpSpPr>
        <p:cNvPr id="1" name=""/>
        <p:cNvGrpSpPr/>
        <p:nvPr/>
      </p:nvGrpSpPr>
      <p:grpSpPr/>
      <p:sp>
        <p:nvSpPr>
          <p:cNvPr id="2" name="Rectangle 1"/>
          <p:cNvSpPr/>
          <p:nvPr/>
        </p:nvSpPr>
        <p:spPr>
          <a:xfrm>
            <a:off x="502920" y="429768"/>
            <a:ext cx="100584" cy="329184"/>
          </a:xfrm>
          <a:prstGeom prst="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457200"/>
            <a:ext cx="64008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01  ·  READ</a:t>
            </a:r>
          </a:p>
        </p:txBody>
      </p:sp>
      <p:sp>
        <p:nvSpPr>
          <p:cNvPr id="4" name="TextBox 3"/>
          <p:cNvSpPr txBox="1"/>
          <p:nvPr/>
        </p:nvSpPr>
        <p:spPr>
          <a:xfrm>
            <a:off x="758952" y="859536"/>
            <a:ext cx="6446520" cy="960120"/>
          </a:xfrm>
          <a:prstGeom prst="rect">
            <a:avLst/>
          </a:prstGeom>
          <a:noFill/>
        </p:spPr>
        <p:txBody>
          <a:bodyPr wrap="square" lIns="0" rIns="0" tIns="0" bIns="0" anchor="ctr">
            <a:spAutoFit/>
          </a:bodyPr>
          <a:lstStyle/>
          <a:p>
            <a:pPr algn="l">
              <a:spcBef>
                <a:spcPts val="0"/>
              </a:spcBef>
              <a:spcAft>
                <a:spcPts val="0"/>
              </a:spcAft>
            </a:pPr>
            <a:r>
              <a:rPr sz="2700" b="1">
                <a:solidFill>
                  <a:srgbClr val="213E45"/>
                </a:solidFill>
                <a:latin typeface="Aptos"/>
              </a:rPr>
              <a:t>Start with the document.</a:t>
            </a:r>
          </a:p>
        </p:txBody>
      </p:sp>
      <p:sp>
        <p:nvSpPr>
          <p:cNvPr id="5" name="TextBox 4"/>
          <p:cNvSpPr txBox="1"/>
          <p:nvPr/>
        </p:nvSpPr>
        <p:spPr>
          <a:xfrm>
            <a:off x="758952" y="1993392"/>
            <a:ext cx="6172200" cy="1508760"/>
          </a:xfrm>
          <a:prstGeom prst="rect">
            <a:avLst/>
          </a:prstGeom>
          <a:noFill/>
        </p:spPr>
        <p:txBody>
          <a:bodyPr wrap="square" lIns="0" rIns="0" tIns="0" bIns="0" anchor="t">
            <a:spAutoFit/>
          </a:bodyPr>
          <a:lstStyle/>
          <a:p>
            <a:pPr algn="l">
              <a:spcBef>
                <a:spcPts val="0"/>
              </a:spcBef>
              <a:spcAft>
                <a:spcPts val="0"/>
              </a:spcAft>
            </a:pPr>
            <a:r>
              <a:rPr sz="1400" b="0">
                <a:solidFill>
                  <a:srgbClr val="667D7C"/>
                </a:solidFill>
                <a:latin typeface="Aptos"/>
              </a:rPr>
              <a:t>Select a text-based discharge PDF. The demo reads it in the browser and keeps the selected file in the current session.</a:t>
            </a:r>
          </a:p>
        </p:txBody>
      </p:sp>
      <p:sp>
        <p:nvSpPr>
          <p:cNvPr id="6" name="Rounded Rectangle 5"/>
          <p:cNvSpPr/>
          <p:nvPr/>
        </p:nvSpPr>
        <p:spPr>
          <a:xfrm>
            <a:off x="7635240" y="1517904"/>
            <a:ext cx="3840480" cy="4480560"/>
          </a:xfrm>
          <a:prstGeom prst="roundRect">
            <a:avLst/>
          </a:prstGeom>
          <a:solidFill>
            <a:srgbClr val="FFFFFF"/>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792224"/>
            <a:ext cx="310896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SYNTHETIC DISCHARGE SUMMARY</a:t>
            </a:r>
          </a:p>
        </p:txBody>
      </p:sp>
      <p:sp>
        <p:nvSpPr>
          <p:cNvPr id="8" name="Rounded Rectangle 7"/>
          <p:cNvSpPr/>
          <p:nvPr/>
        </p:nvSpPr>
        <p:spPr>
          <a:xfrm>
            <a:off x="7909560" y="2203704"/>
            <a:ext cx="3291840" cy="3401568"/>
          </a:xfrm>
          <a:prstGeom prst="roundRect">
            <a:avLst/>
          </a:prstGeom>
          <a:solidFill>
            <a:srgbClr val="FCFDFC"/>
          </a:solidFill>
          <a:ln w="12700">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47304" y="2450591"/>
            <a:ext cx="2834640" cy="256032"/>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DISCHARGE INSTRUCTIONS</a:t>
            </a:r>
          </a:p>
        </p:txBody>
      </p:sp>
      <p:sp>
        <p:nvSpPr>
          <p:cNvPr id="10" name="TextBox 9"/>
          <p:cNvSpPr txBox="1"/>
          <p:nvPr/>
        </p:nvSpPr>
        <p:spPr>
          <a:xfrm>
            <a:off x="8147304" y="2944368"/>
            <a:ext cx="2743200" cy="246888"/>
          </a:xfrm>
          <a:prstGeom prst="rect">
            <a:avLst/>
          </a:prstGeom>
          <a:noFill/>
        </p:spPr>
        <p:txBody>
          <a:bodyPr wrap="square" lIns="0" rIns="0" tIns="0" bIns="0" anchor="ctr">
            <a:spAutoFit/>
          </a:bodyPr>
          <a:lstStyle/>
          <a:p>
            <a:pPr algn="l">
              <a:spcBef>
                <a:spcPts val="0"/>
              </a:spcBef>
              <a:spcAft>
                <a:spcPts val="0"/>
              </a:spcAft>
            </a:pPr>
            <a:r>
              <a:rPr sz="1200" b="1">
                <a:solidFill>
                  <a:srgbClr val="213E45"/>
                </a:solidFill>
                <a:latin typeface="Aptos"/>
              </a:rPr>
              <a:t>Medication</a:t>
            </a:r>
          </a:p>
        </p:txBody>
      </p:sp>
      <p:sp>
        <p:nvSpPr>
          <p:cNvPr id="11" name="TextBox 10"/>
          <p:cNvSpPr txBox="1"/>
          <p:nvPr/>
        </p:nvSpPr>
        <p:spPr>
          <a:xfrm>
            <a:off x="8147304" y="3273552"/>
            <a:ext cx="2743200" cy="640080"/>
          </a:xfrm>
          <a:prstGeom prst="rect">
            <a:avLst/>
          </a:prstGeom>
          <a:noFill/>
        </p:spPr>
        <p:txBody>
          <a:bodyPr wrap="square" lIns="0" rIns="0" tIns="0" bIns="0" anchor="ctr">
            <a:spAutoFit/>
          </a:bodyPr>
          <a:lstStyle/>
          <a:p>
            <a:pPr algn="l">
              <a:spcBef>
                <a:spcPts val="0"/>
              </a:spcBef>
              <a:spcAft>
                <a:spcPts val="0"/>
              </a:spcAft>
            </a:pPr>
            <a:r>
              <a:rPr sz="1100" b="0">
                <a:solidFill>
                  <a:srgbClr val="667D7C"/>
                </a:solidFill>
                <a:latin typeface="Aptos"/>
              </a:rPr>
              <a:t>Acetaminophen 500 mg every 6 hours as needed for pain.</a:t>
            </a:r>
          </a:p>
        </p:txBody>
      </p:sp>
      <p:sp>
        <p:nvSpPr>
          <p:cNvPr id="12" name="Rectangle 11"/>
          <p:cNvSpPr/>
          <p:nvPr/>
        </p:nvSpPr>
        <p:spPr>
          <a:xfrm>
            <a:off x="8147304" y="4105656"/>
            <a:ext cx="2651760" cy="22860"/>
          </a:xfrm>
          <a:prstGeom prst="rect">
            <a:avLst/>
          </a:prstGeom>
          <a:solidFill>
            <a:srgbClr val="DD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47304" y="4279392"/>
            <a:ext cx="2743200" cy="246888"/>
          </a:xfrm>
          <a:prstGeom prst="rect">
            <a:avLst/>
          </a:prstGeom>
          <a:noFill/>
        </p:spPr>
        <p:txBody>
          <a:bodyPr wrap="square" lIns="0" rIns="0" tIns="0" bIns="0" anchor="ctr">
            <a:spAutoFit/>
          </a:bodyPr>
          <a:lstStyle/>
          <a:p>
            <a:pPr algn="l">
              <a:spcBef>
                <a:spcPts val="0"/>
              </a:spcBef>
              <a:spcAft>
                <a:spcPts val="0"/>
              </a:spcAft>
            </a:pPr>
            <a:r>
              <a:rPr sz="1200" b="1">
                <a:solidFill>
                  <a:srgbClr val="213E45"/>
                </a:solidFill>
                <a:latin typeface="Aptos"/>
              </a:rPr>
              <a:t>Follow-up</a:t>
            </a:r>
          </a:p>
        </p:txBody>
      </p:sp>
      <p:sp>
        <p:nvSpPr>
          <p:cNvPr id="14" name="TextBox 13"/>
          <p:cNvSpPr txBox="1"/>
          <p:nvPr/>
        </p:nvSpPr>
        <p:spPr>
          <a:xfrm>
            <a:off x="8147304" y="4617720"/>
            <a:ext cx="2743200" cy="502920"/>
          </a:xfrm>
          <a:prstGeom prst="rect">
            <a:avLst/>
          </a:prstGeom>
          <a:noFill/>
        </p:spPr>
        <p:txBody>
          <a:bodyPr wrap="square" lIns="0" rIns="0" tIns="0" bIns="0" anchor="ctr">
            <a:spAutoFit/>
          </a:bodyPr>
          <a:lstStyle/>
          <a:p>
            <a:pPr algn="l">
              <a:spcBef>
                <a:spcPts val="0"/>
              </a:spcBef>
              <a:spcAft>
                <a:spcPts val="0"/>
              </a:spcAft>
            </a:pPr>
            <a:r>
              <a:rPr sz="1000" b="0">
                <a:solidFill>
                  <a:srgbClr val="667D7C"/>
                </a:solidFill>
                <a:latin typeface="Aptos"/>
              </a:rPr>
              <a:t>Primary care · Oct 20 · 10:30 AM</a:t>
            </a:r>
          </a:p>
        </p:txBody>
      </p:sp>
      <p:sp>
        <p:nvSpPr>
          <p:cNvPr id="15" name="Rounded Rectangle 14"/>
          <p:cNvSpPr/>
          <p:nvPr/>
        </p:nvSpPr>
        <p:spPr>
          <a:xfrm>
            <a:off x="8156448" y="5175504"/>
            <a:ext cx="1463040" cy="219456"/>
          </a:xfrm>
          <a:prstGeom prst="roundRect">
            <a:avLst/>
          </a:prstGeom>
          <a:solidFill>
            <a:srgbClr val="DD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5184648"/>
            <a:ext cx="1280160" cy="192024"/>
          </a:xfrm>
          <a:prstGeom prst="rect">
            <a:avLst/>
          </a:prstGeom>
          <a:noFill/>
        </p:spPr>
        <p:txBody>
          <a:bodyPr wrap="square" lIns="0" rIns="0" tIns="0" bIns="0" anchor="ctr">
            <a:spAutoFit/>
          </a:bodyPr>
          <a:lstStyle/>
          <a:p>
            <a:pPr algn="l">
              <a:spcBef>
                <a:spcPts val="0"/>
              </a:spcBef>
              <a:spcAft>
                <a:spcPts val="0"/>
              </a:spcAft>
            </a:pPr>
            <a:r>
              <a:rPr sz="700" b="1">
                <a:solidFill>
                  <a:srgbClr val="2E7C72"/>
                </a:solidFill>
                <a:latin typeface="Aptos"/>
              </a:rPr>
              <a:t>READ IN BROWSER</a:t>
            </a:r>
          </a:p>
        </p:txBody>
      </p:sp>
      <p:sp>
        <p:nvSpPr>
          <p:cNvPr id="17" name="Rectangle 16"/>
          <p:cNvSpPr/>
          <p:nvPr/>
        </p:nvSpPr>
        <p:spPr>
          <a:xfrm>
            <a:off x="758952" y="5422392"/>
            <a:ext cx="6263640" cy="9144"/>
          </a:xfrm>
          <a:prstGeom prst="rect">
            <a:avLst/>
          </a:prstGeom>
          <a:solidFill>
            <a:srgbClr val="DD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5605272"/>
            <a:ext cx="6217920" cy="256032"/>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ClearCare  ·  Synthetic demo  ·  Not medical advice</a:t>
            </a:r>
          </a:p>
        </p:txBody>
      </p:sp>
      <p:sp>
        <p:nvSpPr>
          <p:cNvPr id="19" name="TextBox 18"/>
          <p:cNvSpPr txBox="1"/>
          <p:nvPr/>
        </p:nvSpPr>
        <p:spPr>
          <a:xfrm>
            <a:off x="10835640" y="6327648"/>
            <a:ext cx="822960" cy="210312"/>
          </a:xfrm>
          <a:prstGeom prst="rect">
            <a:avLst/>
          </a:prstGeom>
          <a:noFill/>
        </p:spPr>
        <p:txBody>
          <a:bodyPr wrap="square" lIns="0" rIns="0" tIns="0" bIns="0" anchor="ctr">
            <a:spAutoFit/>
          </a:bodyPr>
          <a:lstStyle/>
          <a:p>
            <a:pPr algn="r">
              <a:spcBef>
                <a:spcPts val="0"/>
              </a:spcBef>
              <a:spcAft>
                <a:spcPts val="0"/>
              </a:spcAft>
            </a:pPr>
            <a:r>
              <a:rPr sz="800" b="1">
                <a:solidFill>
                  <a:srgbClr val="667D7C"/>
                </a:solidFill>
                <a:latin typeface="Aptos"/>
              </a:rPr>
              <a:t>01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6"/>
        </a:solidFill>
        <a:effectLst/>
      </p:bgPr>
    </p:bg>
    <p:spTree>
      <p:nvGrpSpPr>
        <p:cNvPr id="1" name=""/>
        <p:cNvGrpSpPr/>
        <p:nvPr/>
      </p:nvGrpSpPr>
      <p:grpSpPr/>
      <p:sp>
        <p:nvSpPr>
          <p:cNvPr id="2" name="Rectangle 1"/>
          <p:cNvSpPr/>
          <p:nvPr/>
        </p:nvSpPr>
        <p:spPr>
          <a:xfrm>
            <a:off x="502920" y="429768"/>
            <a:ext cx="100584" cy="329184"/>
          </a:xfrm>
          <a:prstGeom prst="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457200"/>
            <a:ext cx="64008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02  ·  SHOW THE SOURCE</a:t>
            </a:r>
          </a:p>
        </p:txBody>
      </p:sp>
      <p:sp>
        <p:nvSpPr>
          <p:cNvPr id="4" name="TextBox 3"/>
          <p:cNvSpPr txBox="1"/>
          <p:nvPr/>
        </p:nvSpPr>
        <p:spPr>
          <a:xfrm>
            <a:off x="758952" y="859536"/>
            <a:ext cx="6446520" cy="960120"/>
          </a:xfrm>
          <a:prstGeom prst="rect">
            <a:avLst/>
          </a:prstGeom>
          <a:noFill/>
        </p:spPr>
        <p:txBody>
          <a:bodyPr wrap="square" lIns="0" rIns="0" tIns="0" bIns="0" anchor="ctr">
            <a:spAutoFit/>
          </a:bodyPr>
          <a:lstStyle/>
          <a:p>
            <a:pPr algn="l">
              <a:spcBef>
                <a:spcPts val="0"/>
              </a:spcBef>
              <a:spcAft>
                <a:spcPts val="0"/>
              </a:spcAft>
            </a:pPr>
            <a:r>
              <a:rPr sz="2700" b="1">
                <a:solidFill>
                  <a:srgbClr val="213E45"/>
                </a:solidFill>
                <a:latin typeface="Aptos"/>
              </a:rPr>
              <a:t>Keep each instruction grounded.</a:t>
            </a:r>
          </a:p>
        </p:txBody>
      </p:sp>
      <p:sp>
        <p:nvSpPr>
          <p:cNvPr id="5" name="TextBox 4"/>
          <p:cNvSpPr txBox="1"/>
          <p:nvPr/>
        </p:nvSpPr>
        <p:spPr>
          <a:xfrm>
            <a:off x="758952" y="1993392"/>
            <a:ext cx="6172200" cy="1508760"/>
          </a:xfrm>
          <a:prstGeom prst="rect">
            <a:avLst/>
          </a:prstGeom>
          <a:noFill/>
        </p:spPr>
        <p:txBody>
          <a:bodyPr wrap="square" lIns="0" rIns="0" tIns="0" bIns="0" anchor="t">
            <a:spAutoFit/>
          </a:bodyPr>
          <a:lstStyle/>
          <a:p>
            <a:pPr algn="l">
              <a:spcBef>
                <a:spcPts val="0"/>
              </a:spcBef>
              <a:spcAft>
                <a:spcPts val="0"/>
              </a:spcAft>
            </a:pPr>
            <a:r>
              <a:rPr sz="1400" b="0">
                <a:solidFill>
                  <a:srgbClr val="667D7C"/>
                </a:solidFill>
                <a:latin typeface="Aptos"/>
              </a:rPr>
              <a:t>Medication directions and care steps stay paired with the exact words found in the document, so families can compare the summary with its source.</a:t>
            </a:r>
          </a:p>
        </p:txBody>
      </p:sp>
      <p:sp>
        <p:nvSpPr>
          <p:cNvPr id="6" name="Rounded Rectangle 5"/>
          <p:cNvSpPr/>
          <p:nvPr/>
        </p:nvSpPr>
        <p:spPr>
          <a:xfrm>
            <a:off x="7635240" y="1517904"/>
            <a:ext cx="3840480" cy="4480560"/>
          </a:xfrm>
          <a:prstGeom prst="roundRect">
            <a:avLst/>
          </a:prstGeom>
          <a:solidFill>
            <a:srgbClr val="FFFFFF"/>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792224"/>
            <a:ext cx="27432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MEDICATION INSTRUCTION</a:t>
            </a:r>
          </a:p>
        </p:txBody>
      </p:sp>
      <p:sp>
        <p:nvSpPr>
          <p:cNvPr id="8" name="TextBox 7"/>
          <p:cNvSpPr txBox="1"/>
          <p:nvPr/>
        </p:nvSpPr>
        <p:spPr>
          <a:xfrm>
            <a:off x="7909560" y="2267712"/>
            <a:ext cx="3291840" cy="347472"/>
          </a:xfrm>
          <a:prstGeom prst="rect">
            <a:avLst/>
          </a:prstGeom>
          <a:noFill/>
        </p:spPr>
        <p:txBody>
          <a:bodyPr wrap="square" lIns="0" rIns="0" tIns="0" bIns="0" anchor="ctr">
            <a:spAutoFit/>
          </a:bodyPr>
          <a:lstStyle/>
          <a:p>
            <a:pPr algn="l">
              <a:spcBef>
                <a:spcPts val="0"/>
              </a:spcBef>
              <a:spcAft>
                <a:spcPts val="0"/>
              </a:spcAft>
            </a:pPr>
            <a:r>
              <a:rPr sz="1700" b="1">
                <a:solidFill>
                  <a:srgbClr val="213E45"/>
                </a:solidFill>
                <a:latin typeface="Aptos"/>
              </a:rPr>
              <a:t>Acetaminophen · 500 mg</a:t>
            </a:r>
          </a:p>
        </p:txBody>
      </p:sp>
      <p:sp>
        <p:nvSpPr>
          <p:cNvPr id="9" name="TextBox 8"/>
          <p:cNvSpPr txBox="1"/>
          <p:nvPr/>
        </p:nvSpPr>
        <p:spPr>
          <a:xfrm>
            <a:off x="7909560" y="2660904"/>
            <a:ext cx="3246120" cy="365760"/>
          </a:xfrm>
          <a:prstGeom prst="rect">
            <a:avLst/>
          </a:prstGeom>
          <a:noFill/>
        </p:spPr>
        <p:txBody>
          <a:bodyPr wrap="square" lIns="0" rIns="0" tIns="0" bIns="0" anchor="ctr">
            <a:spAutoFit/>
          </a:bodyPr>
          <a:lstStyle/>
          <a:p>
            <a:pPr algn="l">
              <a:spcBef>
                <a:spcPts val="0"/>
              </a:spcBef>
              <a:spcAft>
                <a:spcPts val="0"/>
              </a:spcAft>
            </a:pPr>
            <a:r>
              <a:rPr sz="1100" b="0">
                <a:solidFill>
                  <a:srgbClr val="667D7C"/>
                </a:solidFill>
                <a:latin typeface="Aptos"/>
              </a:rPr>
              <a:t>Every 6 hours as needed for pain</a:t>
            </a:r>
          </a:p>
        </p:txBody>
      </p:sp>
      <p:sp>
        <p:nvSpPr>
          <p:cNvPr id="10" name="Rounded Rectangle 9"/>
          <p:cNvSpPr/>
          <p:nvPr/>
        </p:nvSpPr>
        <p:spPr>
          <a:xfrm>
            <a:off x="7909560" y="3346704"/>
            <a:ext cx="3291840" cy="1572768"/>
          </a:xfrm>
          <a:prstGeom prst="roundRect">
            <a:avLst/>
          </a:prstGeom>
          <a:solidFill>
            <a:srgbClr val="F2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3346704"/>
            <a:ext cx="45720" cy="1572768"/>
          </a:xfrm>
          <a:prstGeom prst="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3547872"/>
            <a:ext cx="27432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ORIGINAL WORDS</a:t>
            </a:r>
          </a:p>
        </p:txBody>
      </p:sp>
      <p:sp>
        <p:nvSpPr>
          <p:cNvPr id="13" name="TextBox 12"/>
          <p:cNvSpPr txBox="1"/>
          <p:nvPr/>
        </p:nvSpPr>
        <p:spPr>
          <a:xfrm>
            <a:off x="8138160" y="3913632"/>
            <a:ext cx="2788920" cy="731520"/>
          </a:xfrm>
          <a:prstGeom prst="rect">
            <a:avLst/>
          </a:prstGeom>
          <a:noFill/>
        </p:spPr>
        <p:txBody>
          <a:bodyPr wrap="square" lIns="0" rIns="0" tIns="0" bIns="0" anchor="ctr">
            <a:spAutoFit/>
          </a:bodyPr>
          <a:lstStyle/>
          <a:p>
            <a:pPr algn="l">
              <a:spcBef>
                <a:spcPts val="0"/>
              </a:spcBef>
              <a:spcAft>
                <a:spcPts val="0"/>
              </a:spcAft>
            </a:pPr>
            <a:r>
              <a:rPr sz="1200" b="0">
                <a:solidFill>
                  <a:srgbClr val="213E45"/>
                </a:solidFill>
                <a:latin typeface="Aptos"/>
              </a:rPr>
              <a:t>“Take acetaminophen 500 mg every 6 hours as needed for pain.”</a:t>
            </a:r>
          </a:p>
        </p:txBody>
      </p:sp>
      <p:sp>
        <p:nvSpPr>
          <p:cNvPr id="14" name="Rounded Rectangle 13"/>
          <p:cNvSpPr/>
          <p:nvPr/>
        </p:nvSpPr>
        <p:spPr>
          <a:xfrm>
            <a:off x="7909560" y="5175504"/>
            <a:ext cx="1920240" cy="484632"/>
          </a:xfrm>
          <a:prstGeom prst="round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8431" y="5248656"/>
            <a:ext cx="1691640" cy="292608"/>
          </a:xfrm>
          <a:prstGeom prst="rect">
            <a:avLst/>
          </a:prstGeom>
          <a:noFill/>
        </p:spPr>
        <p:txBody>
          <a:bodyPr wrap="square" lIns="0" rIns="0" tIns="0" bIns="0" anchor="ctr">
            <a:spAutoFit/>
          </a:bodyPr>
          <a:lstStyle/>
          <a:p>
            <a:pPr algn="ctr">
              <a:spcBef>
                <a:spcPts val="0"/>
              </a:spcBef>
              <a:spcAft>
                <a:spcPts val="0"/>
              </a:spcAft>
            </a:pPr>
            <a:r>
              <a:rPr sz="900" b="1">
                <a:solidFill>
                  <a:srgbClr val="FFFFFF"/>
                </a:solidFill>
                <a:latin typeface="Aptos"/>
              </a:rPr>
              <a:t>AI  ·  Explain simply</a:t>
            </a:r>
          </a:p>
        </p:txBody>
      </p:sp>
      <p:sp>
        <p:nvSpPr>
          <p:cNvPr id="16" name="Rectangle 15"/>
          <p:cNvSpPr/>
          <p:nvPr/>
        </p:nvSpPr>
        <p:spPr>
          <a:xfrm>
            <a:off x="758952" y="5422392"/>
            <a:ext cx="6263640" cy="9144"/>
          </a:xfrm>
          <a:prstGeom prst="rect">
            <a:avLst/>
          </a:prstGeom>
          <a:solidFill>
            <a:srgbClr val="DD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5605272"/>
            <a:ext cx="6217920" cy="256032"/>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ClearCare  ·  Synthetic demo  ·  Not medical advice</a:t>
            </a:r>
          </a:p>
        </p:txBody>
      </p:sp>
      <p:sp>
        <p:nvSpPr>
          <p:cNvPr id="18" name="TextBox 17"/>
          <p:cNvSpPr txBox="1"/>
          <p:nvPr/>
        </p:nvSpPr>
        <p:spPr>
          <a:xfrm>
            <a:off x="10835640" y="6327648"/>
            <a:ext cx="822960" cy="210312"/>
          </a:xfrm>
          <a:prstGeom prst="rect">
            <a:avLst/>
          </a:prstGeom>
          <a:noFill/>
        </p:spPr>
        <p:txBody>
          <a:bodyPr wrap="square" lIns="0" rIns="0" tIns="0" bIns="0" anchor="ctr">
            <a:spAutoFit/>
          </a:bodyPr>
          <a:lstStyle/>
          <a:p>
            <a:pPr algn="r">
              <a:spcBef>
                <a:spcPts val="0"/>
              </a:spcBef>
              <a:spcAft>
                <a:spcPts val="0"/>
              </a:spcAft>
            </a:pPr>
            <a:r>
              <a:rPr sz="800" b="1">
                <a:solidFill>
                  <a:srgbClr val="667D7C"/>
                </a:solidFill>
                <a:latin typeface="Aptos"/>
              </a:rPr>
              <a:t>02 / 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6"/>
        </a:solidFill>
        <a:effectLst/>
      </p:bgPr>
    </p:bg>
    <p:spTree>
      <p:nvGrpSpPr>
        <p:cNvPr id="1" name=""/>
        <p:cNvGrpSpPr/>
        <p:nvPr/>
      </p:nvGrpSpPr>
      <p:grpSpPr/>
      <p:sp>
        <p:nvSpPr>
          <p:cNvPr id="2" name="Rectangle 1"/>
          <p:cNvSpPr/>
          <p:nvPr/>
        </p:nvSpPr>
        <p:spPr>
          <a:xfrm>
            <a:off x="502920" y="429768"/>
            <a:ext cx="100584" cy="329184"/>
          </a:xfrm>
          <a:prstGeom prst="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457200"/>
            <a:ext cx="64008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03  ·  AMD TOKEN FACTORY</a:t>
            </a:r>
          </a:p>
        </p:txBody>
      </p:sp>
      <p:sp>
        <p:nvSpPr>
          <p:cNvPr id="4" name="TextBox 3"/>
          <p:cNvSpPr txBox="1"/>
          <p:nvPr/>
        </p:nvSpPr>
        <p:spPr>
          <a:xfrm>
            <a:off x="758952" y="859536"/>
            <a:ext cx="6446520" cy="960120"/>
          </a:xfrm>
          <a:prstGeom prst="rect">
            <a:avLst/>
          </a:prstGeom>
          <a:noFill/>
        </p:spPr>
        <p:txBody>
          <a:bodyPr wrap="square" lIns="0" rIns="0" tIns="0" bIns="0" anchor="ctr">
            <a:spAutoFit/>
          </a:bodyPr>
          <a:lstStyle/>
          <a:p>
            <a:pPr algn="l">
              <a:spcBef>
                <a:spcPts val="0"/>
              </a:spcBef>
              <a:spcAft>
                <a:spcPts val="0"/>
              </a:spcAft>
            </a:pPr>
            <a:r>
              <a:rPr sz="2700" b="1">
                <a:solidFill>
                  <a:srgbClr val="213E45"/>
                </a:solidFill>
                <a:latin typeface="Aptos"/>
              </a:rPr>
              <a:t>Explain simply, when you ask.</a:t>
            </a:r>
          </a:p>
        </p:txBody>
      </p:sp>
      <p:sp>
        <p:nvSpPr>
          <p:cNvPr id="5" name="TextBox 4"/>
          <p:cNvSpPr txBox="1"/>
          <p:nvPr/>
        </p:nvSpPr>
        <p:spPr>
          <a:xfrm>
            <a:off x="758952" y="1993392"/>
            <a:ext cx="6172200" cy="1508760"/>
          </a:xfrm>
          <a:prstGeom prst="rect">
            <a:avLst/>
          </a:prstGeom>
          <a:noFill/>
        </p:spPr>
        <p:txBody>
          <a:bodyPr wrap="square" lIns="0" rIns="0" tIns="0" bIns="0" anchor="t">
            <a:spAutoFit/>
          </a:bodyPr>
          <a:lstStyle/>
          <a:p>
            <a:pPr algn="l">
              <a:spcBef>
                <a:spcPts val="0"/>
              </a:spcBef>
              <a:spcAft>
                <a:spcPts val="0"/>
              </a:spcAft>
            </a:pPr>
            <a:r>
              <a:rPr sz="1400" b="0">
                <a:solidFill>
                  <a:srgbClr val="667D7C"/>
                </a:solidFill>
                <a:latin typeface="Aptos"/>
              </a:rPr>
              <a:t>A person chooses Explain simply on one instruction. ClearCare sends that selected text to the backend AMD service for a short plain-language explanation.</a:t>
            </a:r>
          </a:p>
        </p:txBody>
      </p:sp>
      <p:sp>
        <p:nvSpPr>
          <p:cNvPr id="6" name="Rounded Rectangle 5"/>
          <p:cNvSpPr/>
          <p:nvPr/>
        </p:nvSpPr>
        <p:spPr>
          <a:xfrm>
            <a:off x="7635240" y="1517904"/>
            <a:ext cx="3840480" cy="4480560"/>
          </a:xfrm>
          <a:prstGeom prst="roundRect">
            <a:avLst/>
          </a:prstGeom>
          <a:solidFill>
            <a:srgbClr val="FFFFFF"/>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792224"/>
            <a:ext cx="338328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ONE CLICK · ONE SELECTED INSTRUCTION</a:t>
            </a:r>
          </a:p>
        </p:txBody>
      </p:sp>
      <p:sp>
        <p:nvSpPr>
          <p:cNvPr id="8" name="Rounded Rectangle 7"/>
          <p:cNvSpPr/>
          <p:nvPr/>
        </p:nvSpPr>
        <p:spPr>
          <a:xfrm>
            <a:off x="7955279" y="2523744"/>
            <a:ext cx="1188720" cy="969264"/>
          </a:xfrm>
          <a:prstGeom prst="roundRect">
            <a:avLst/>
          </a:prstGeom>
          <a:solidFill>
            <a:srgbClr val="DD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9" y="2779776"/>
            <a:ext cx="1005840" cy="274320"/>
          </a:xfrm>
          <a:prstGeom prst="rect">
            <a:avLst/>
          </a:prstGeom>
          <a:noFill/>
        </p:spPr>
        <p:txBody>
          <a:bodyPr wrap="square" lIns="0" rIns="0" tIns="0" bIns="0" anchor="ctr">
            <a:spAutoFit/>
          </a:bodyPr>
          <a:lstStyle/>
          <a:p>
            <a:pPr algn="ctr">
              <a:spcBef>
                <a:spcPts val="0"/>
              </a:spcBef>
              <a:spcAft>
                <a:spcPts val="0"/>
              </a:spcAft>
            </a:pPr>
            <a:r>
              <a:rPr sz="1200" b="1">
                <a:solidFill>
                  <a:srgbClr val="2E7C72"/>
                </a:solidFill>
                <a:latin typeface="Aptos"/>
              </a:rPr>
              <a:t>Care text</a:t>
            </a:r>
          </a:p>
        </p:txBody>
      </p:sp>
      <p:sp>
        <p:nvSpPr>
          <p:cNvPr id="10" name="Rounded Rectangle 9"/>
          <p:cNvSpPr/>
          <p:nvPr/>
        </p:nvSpPr>
        <p:spPr>
          <a:xfrm>
            <a:off x="9966959" y="2523744"/>
            <a:ext cx="1188720" cy="969264"/>
          </a:xfrm>
          <a:prstGeom prst="roundRect">
            <a:avLst/>
          </a:prstGeom>
          <a:solidFill>
            <a:srgbClr val="EA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0" y="2779776"/>
            <a:ext cx="1005840" cy="274320"/>
          </a:xfrm>
          <a:prstGeom prst="rect">
            <a:avLst/>
          </a:prstGeom>
          <a:noFill/>
        </p:spPr>
        <p:txBody>
          <a:bodyPr wrap="square" lIns="0" rIns="0" tIns="0" bIns="0" anchor="ctr">
            <a:spAutoFit/>
          </a:bodyPr>
          <a:lstStyle/>
          <a:p>
            <a:pPr algn="ctr">
              <a:spcBef>
                <a:spcPts val="0"/>
              </a:spcBef>
              <a:spcAft>
                <a:spcPts val="0"/>
              </a:spcAft>
            </a:pPr>
            <a:r>
              <a:rPr sz="1200" b="1">
                <a:solidFill>
                  <a:srgbClr val="386784"/>
                </a:solidFill>
                <a:latin typeface="Aptos"/>
              </a:rPr>
              <a:t>AMD API</a:t>
            </a:r>
          </a:p>
        </p:txBody>
      </p:sp>
      <p:sp>
        <p:nvSpPr>
          <p:cNvPr id="12" name="TextBox 11"/>
          <p:cNvSpPr txBox="1"/>
          <p:nvPr/>
        </p:nvSpPr>
        <p:spPr>
          <a:xfrm>
            <a:off x="9299448" y="2816352"/>
            <a:ext cx="457200" cy="274320"/>
          </a:xfrm>
          <a:prstGeom prst="rect">
            <a:avLst/>
          </a:prstGeom>
          <a:noFill/>
        </p:spPr>
        <p:txBody>
          <a:bodyPr wrap="square" lIns="0" rIns="0" tIns="0" bIns="0" anchor="ctr">
            <a:spAutoFit/>
          </a:bodyPr>
          <a:lstStyle/>
          <a:p>
            <a:pPr algn="ctr">
              <a:spcBef>
                <a:spcPts val="0"/>
              </a:spcBef>
              <a:spcAft>
                <a:spcPts val="0"/>
              </a:spcAft>
            </a:pPr>
            <a:r>
              <a:rPr sz="2400" b="1">
                <a:solidFill>
                  <a:srgbClr val="2E7C72"/>
                </a:solidFill>
                <a:latin typeface="Aptos"/>
              </a:rPr>
              <a:t>→</a:t>
            </a:r>
          </a:p>
        </p:txBody>
      </p:sp>
      <p:sp>
        <p:nvSpPr>
          <p:cNvPr id="13" name="TextBox 12"/>
          <p:cNvSpPr txBox="1"/>
          <p:nvPr/>
        </p:nvSpPr>
        <p:spPr>
          <a:xfrm>
            <a:off x="7955279" y="3803904"/>
            <a:ext cx="1188720" cy="457200"/>
          </a:xfrm>
          <a:prstGeom prst="rect">
            <a:avLst/>
          </a:prstGeom>
          <a:noFill/>
        </p:spPr>
        <p:txBody>
          <a:bodyPr wrap="square" lIns="0" rIns="0" tIns="0" bIns="0" anchor="ctr">
            <a:spAutoFit/>
          </a:bodyPr>
          <a:lstStyle/>
          <a:p>
            <a:pPr algn="ctr">
              <a:spcBef>
                <a:spcPts val="0"/>
              </a:spcBef>
              <a:spcAft>
                <a:spcPts val="0"/>
              </a:spcAft>
            </a:pPr>
            <a:r>
              <a:rPr sz="900" b="0">
                <a:solidFill>
                  <a:srgbClr val="667D7C"/>
                </a:solidFill>
                <a:latin typeface="Aptos"/>
              </a:rPr>
              <a:t>Selected text only</a:t>
            </a:r>
          </a:p>
        </p:txBody>
      </p:sp>
      <p:sp>
        <p:nvSpPr>
          <p:cNvPr id="14" name="TextBox 13"/>
          <p:cNvSpPr txBox="1"/>
          <p:nvPr/>
        </p:nvSpPr>
        <p:spPr>
          <a:xfrm>
            <a:off x="9875520" y="3803904"/>
            <a:ext cx="1371600" cy="457200"/>
          </a:xfrm>
          <a:prstGeom prst="rect">
            <a:avLst/>
          </a:prstGeom>
          <a:noFill/>
        </p:spPr>
        <p:txBody>
          <a:bodyPr wrap="square" lIns="0" rIns="0" tIns="0" bIns="0" anchor="ctr">
            <a:spAutoFit/>
          </a:bodyPr>
          <a:lstStyle/>
          <a:p>
            <a:pPr algn="ctr">
              <a:spcBef>
                <a:spcPts val="0"/>
              </a:spcBef>
              <a:spcAft>
                <a:spcPts val="0"/>
              </a:spcAft>
            </a:pPr>
            <a:r>
              <a:rPr sz="900" b="0">
                <a:solidFill>
                  <a:srgbClr val="667D7C"/>
                </a:solidFill>
                <a:latin typeface="Aptos"/>
              </a:rPr>
              <a:t>DeepSeek-V4-Flash</a:t>
            </a:r>
          </a:p>
        </p:txBody>
      </p:sp>
      <p:sp>
        <p:nvSpPr>
          <p:cNvPr id="15" name="Rounded Rectangle 14"/>
          <p:cNvSpPr/>
          <p:nvPr/>
        </p:nvSpPr>
        <p:spPr>
          <a:xfrm>
            <a:off x="8138160" y="4581144"/>
            <a:ext cx="2834640" cy="987552"/>
          </a:xfrm>
          <a:prstGeom prst="roundRect">
            <a:avLst/>
          </a:prstGeom>
          <a:solidFill>
            <a:srgbClr val="F7FAF9"/>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3" y="4855464"/>
            <a:ext cx="2450592" cy="384048"/>
          </a:xfrm>
          <a:prstGeom prst="rect">
            <a:avLst/>
          </a:prstGeom>
          <a:noFill/>
        </p:spPr>
        <p:txBody>
          <a:bodyPr wrap="square" lIns="0" rIns="0" tIns="0" bIns="0" anchor="ctr">
            <a:spAutoFit/>
          </a:bodyPr>
          <a:lstStyle/>
          <a:p>
            <a:pPr algn="ctr">
              <a:spcBef>
                <a:spcPts val="0"/>
              </a:spcBef>
              <a:spcAft>
                <a:spcPts val="0"/>
              </a:spcAft>
            </a:pPr>
            <a:r>
              <a:rPr sz="1100" b="1">
                <a:solidFill>
                  <a:srgbClr val="213E45"/>
                </a:solidFill>
                <a:latin typeface="Aptos"/>
              </a:rPr>
              <a:t>Plain words · source stays visible</a:t>
            </a:r>
          </a:p>
        </p:txBody>
      </p:sp>
      <p:sp>
        <p:nvSpPr>
          <p:cNvPr id="17" name="TextBox 16"/>
          <p:cNvSpPr txBox="1"/>
          <p:nvPr/>
        </p:nvSpPr>
        <p:spPr>
          <a:xfrm>
            <a:off x="8074152" y="5678424"/>
            <a:ext cx="2971800" cy="237744"/>
          </a:xfrm>
          <a:prstGeom prst="rect">
            <a:avLst/>
          </a:prstGeom>
          <a:noFill/>
        </p:spPr>
        <p:txBody>
          <a:bodyPr wrap="square" lIns="0" rIns="0" tIns="0" bIns="0" anchor="ctr">
            <a:spAutoFit/>
          </a:bodyPr>
          <a:lstStyle/>
          <a:p>
            <a:pPr algn="ctr">
              <a:spcBef>
                <a:spcPts val="0"/>
              </a:spcBef>
              <a:spcAft>
                <a:spcPts val="0"/>
              </a:spcAft>
            </a:pPr>
            <a:r>
              <a:rPr sz="800" b="1">
                <a:solidFill>
                  <a:srgbClr val="2E7C72"/>
                </a:solidFill>
                <a:latin typeface="Aptos"/>
              </a:rPr>
              <a:t>Backend key · no request on page load</a:t>
            </a:r>
          </a:p>
        </p:txBody>
      </p:sp>
      <p:sp>
        <p:nvSpPr>
          <p:cNvPr id="18" name="Rectangle 17"/>
          <p:cNvSpPr/>
          <p:nvPr/>
        </p:nvSpPr>
        <p:spPr>
          <a:xfrm>
            <a:off x="758952" y="5422392"/>
            <a:ext cx="6263640" cy="9144"/>
          </a:xfrm>
          <a:prstGeom prst="rect">
            <a:avLst/>
          </a:prstGeom>
          <a:solidFill>
            <a:srgbClr val="DD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5605272"/>
            <a:ext cx="6217920" cy="256032"/>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ClearCare  ·  Synthetic demo  ·  Not medical advice</a:t>
            </a:r>
          </a:p>
        </p:txBody>
      </p:sp>
      <p:sp>
        <p:nvSpPr>
          <p:cNvPr id="20" name="TextBox 19"/>
          <p:cNvSpPr txBox="1"/>
          <p:nvPr/>
        </p:nvSpPr>
        <p:spPr>
          <a:xfrm>
            <a:off x="10835640" y="6327648"/>
            <a:ext cx="822960" cy="210312"/>
          </a:xfrm>
          <a:prstGeom prst="rect">
            <a:avLst/>
          </a:prstGeom>
          <a:noFill/>
        </p:spPr>
        <p:txBody>
          <a:bodyPr wrap="square" lIns="0" rIns="0" tIns="0" bIns="0" anchor="ctr">
            <a:spAutoFit/>
          </a:bodyPr>
          <a:lstStyle/>
          <a:p>
            <a:pPr algn="r">
              <a:spcBef>
                <a:spcPts val="0"/>
              </a:spcBef>
              <a:spcAft>
                <a:spcPts val="0"/>
              </a:spcAft>
            </a:pPr>
            <a:r>
              <a:rPr sz="800" b="1">
                <a:solidFill>
                  <a:srgbClr val="667D7C"/>
                </a:solidFill>
                <a:latin typeface="Aptos"/>
              </a:rPr>
              <a:t>03 /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6"/>
        </a:solidFill>
        <a:effectLst/>
      </p:bgPr>
    </p:bg>
    <p:spTree>
      <p:nvGrpSpPr>
        <p:cNvPr id="1" name=""/>
        <p:cNvGrpSpPr/>
        <p:nvPr/>
      </p:nvGrpSpPr>
      <p:grpSpPr/>
      <p:sp>
        <p:nvSpPr>
          <p:cNvPr id="2" name="Rectangle 1"/>
          <p:cNvSpPr/>
          <p:nvPr/>
        </p:nvSpPr>
        <p:spPr>
          <a:xfrm>
            <a:off x="502920" y="429768"/>
            <a:ext cx="100584" cy="329184"/>
          </a:xfrm>
          <a:prstGeom prst="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457200"/>
            <a:ext cx="64008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04  ·  SAFETY BY DESIGN</a:t>
            </a:r>
          </a:p>
        </p:txBody>
      </p:sp>
      <p:sp>
        <p:nvSpPr>
          <p:cNvPr id="4" name="TextBox 3"/>
          <p:cNvSpPr txBox="1"/>
          <p:nvPr/>
        </p:nvSpPr>
        <p:spPr>
          <a:xfrm>
            <a:off x="758952" y="859536"/>
            <a:ext cx="6446520" cy="960120"/>
          </a:xfrm>
          <a:prstGeom prst="rect">
            <a:avLst/>
          </a:prstGeom>
          <a:noFill/>
        </p:spPr>
        <p:txBody>
          <a:bodyPr wrap="square" lIns="0" rIns="0" tIns="0" bIns="0" anchor="ctr">
            <a:spAutoFit/>
          </a:bodyPr>
          <a:lstStyle/>
          <a:p>
            <a:pPr algn="l">
              <a:spcBef>
                <a:spcPts val="0"/>
              </a:spcBef>
              <a:spcAft>
                <a:spcPts val="0"/>
              </a:spcAft>
            </a:pPr>
            <a:r>
              <a:rPr sz="2700" b="1">
                <a:solidFill>
                  <a:srgbClr val="213E45"/>
                </a:solidFill>
                <a:latin typeface="Aptos"/>
              </a:rPr>
              <a:t>Unclear stays unclear.</a:t>
            </a:r>
          </a:p>
        </p:txBody>
      </p:sp>
      <p:sp>
        <p:nvSpPr>
          <p:cNvPr id="5" name="TextBox 4"/>
          <p:cNvSpPr txBox="1"/>
          <p:nvPr/>
        </p:nvSpPr>
        <p:spPr>
          <a:xfrm>
            <a:off x="758952" y="1993392"/>
            <a:ext cx="6172200" cy="1508760"/>
          </a:xfrm>
          <a:prstGeom prst="rect">
            <a:avLst/>
          </a:prstGeom>
          <a:noFill/>
        </p:spPr>
        <p:txBody>
          <a:bodyPr wrap="square" lIns="0" rIns="0" tIns="0" bIns="0" anchor="t">
            <a:spAutoFit/>
          </a:bodyPr>
          <a:lstStyle/>
          <a:p>
            <a:pPr algn="l">
              <a:spcBef>
                <a:spcPts val="0"/>
              </a:spcBef>
              <a:spcAft>
                <a:spcPts val="0"/>
              </a:spcAft>
            </a:pPr>
            <a:r>
              <a:rPr sz="1400" b="0">
                <a:solidFill>
                  <a:srgbClr val="667D7C"/>
                </a:solidFill>
                <a:latin typeface="Aptos"/>
              </a:rPr>
              <a:t>Missing units, ambiguous doses, conflicting directions, and high-risk medicines are marked for review. ClearCare does not guess or mark them confirmed.</a:t>
            </a:r>
          </a:p>
        </p:txBody>
      </p:sp>
      <p:sp>
        <p:nvSpPr>
          <p:cNvPr id="6" name="Rounded Rectangle 5"/>
          <p:cNvSpPr/>
          <p:nvPr/>
        </p:nvSpPr>
        <p:spPr>
          <a:xfrm>
            <a:off x="7635240" y="1517904"/>
            <a:ext cx="3840480" cy="4480560"/>
          </a:xfrm>
          <a:prstGeom prst="roundRect">
            <a:avLst/>
          </a:prstGeom>
          <a:solidFill>
            <a:srgbClr val="FFFFFF"/>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792224"/>
            <a:ext cx="27432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SAFETY REVIEW</a:t>
            </a:r>
          </a:p>
        </p:txBody>
      </p:sp>
      <p:sp>
        <p:nvSpPr>
          <p:cNvPr id="8" name="TextBox 7"/>
          <p:cNvSpPr txBox="1"/>
          <p:nvPr/>
        </p:nvSpPr>
        <p:spPr>
          <a:xfrm>
            <a:off x="7909560" y="2139696"/>
            <a:ext cx="3200400" cy="411480"/>
          </a:xfrm>
          <a:prstGeom prst="rect">
            <a:avLst/>
          </a:prstGeom>
          <a:noFill/>
        </p:spPr>
        <p:txBody>
          <a:bodyPr wrap="square" lIns="0" rIns="0" tIns="0" bIns="0" anchor="ctr">
            <a:spAutoFit/>
          </a:bodyPr>
          <a:lstStyle/>
          <a:p>
            <a:pPr algn="l">
              <a:spcBef>
                <a:spcPts val="0"/>
              </a:spcBef>
              <a:spcAft>
                <a:spcPts val="0"/>
              </a:spcAft>
            </a:pPr>
            <a:r>
              <a:rPr sz="1800" b="1">
                <a:solidFill>
                  <a:srgbClr val="213E45"/>
                </a:solidFill>
                <a:latin typeface="Aptos"/>
              </a:rPr>
              <a:t>Needs a second look</a:t>
            </a:r>
          </a:p>
        </p:txBody>
      </p:sp>
      <p:sp>
        <p:nvSpPr>
          <p:cNvPr id="9" name="Rounded Rectangle 8"/>
          <p:cNvSpPr/>
          <p:nvPr/>
        </p:nvSpPr>
        <p:spPr>
          <a:xfrm>
            <a:off x="7863840" y="2779776"/>
            <a:ext cx="3383280" cy="859536"/>
          </a:xfrm>
          <a:prstGeom prst="roundRect">
            <a:avLst/>
          </a:prstGeom>
          <a:solidFill>
            <a:srgbClr val="FFF1D9"/>
          </a:solidFill>
          <a:ln w="12700">
            <a:solidFill>
              <a:srgbClr val="E8D5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28431" y="2953512"/>
            <a:ext cx="393192" cy="393192"/>
          </a:xfrm>
          <a:prstGeom prst="roundRect">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28431" y="2944368"/>
            <a:ext cx="393192" cy="393192"/>
          </a:xfrm>
          <a:prstGeom prst="rect">
            <a:avLst/>
          </a:prstGeom>
          <a:noFill/>
        </p:spPr>
        <p:txBody>
          <a:bodyPr wrap="square" lIns="0" rIns="0" tIns="0" bIns="0" anchor="ctr">
            <a:spAutoFit/>
          </a:bodyPr>
          <a:lstStyle/>
          <a:p>
            <a:pPr algn="ctr">
              <a:spcBef>
                <a:spcPts val="0"/>
              </a:spcBef>
              <a:spcAft>
                <a:spcPts val="0"/>
              </a:spcAft>
            </a:pPr>
            <a:r>
              <a:rPr sz="1300" b="1">
                <a:solidFill>
                  <a:srgbClr val="B87527"/>
                </a:solidFill>
                <a:latin typeface="Aptos"/>
              </a:rPr>
              <a:t>!</a:t>
            </a:r>
          </a:p>
        </p:txBody>
      </p:sp>
      <p:sp>
        <p:nvSpPr>
          <p:cNvPr id="12" name="TextBox 11"/>
          <p:cNvSpPr txBox="1"/>
          <p:nvPr/>
        </p:nvSpPr>
        <p:spPr>
          <a:xfrm>
            <a:off x="8549640" y="2916936"/>
            <a:ext cx="2560320" cy="274320"/>
          </a:xfrm>
          <a:prstGeom prst="rect">
            <a:avLst/>
          </a:prstGeom>
          <a:noFill/>
        </p:spPr>
        <p:txBody>
          <a:bodyPr wrap="square" lIns="0" rIns="0" tIns="0" bIns="0" anchor="ctr">
            <a:spAutoFit/>
          </a:bodyPr>
          <a:lstStyle/>
          <a:p>
            <a:pPr algn="l">
              <a:spcBef>
                <a:spcPts val="0"/>
              </a:spcBef>
              <a:spcAft>
                <a:spcPts val="0"/>
              </a:spcAft>
            </a:pPr>
            <a:r>
              <a:rPr sz="1300" b="1">
                <a:solidFill>
                  <a:srgbClr val="213E45"/>
                </a:solidFill>
                <a:latin typeface="Aptos"/>
              </a:rPr>
              <a:t>Dose unit missing</a:t>
            </a:r>
          </a:p>
        </p:txBody>
      </p:sp>
      <p:sp>
        <p:nvSpPr>
          <p:cNvPr id="13" name="TextBox 12"/>
          <p:cNvSpPr txBox="1"/>
          <p:nvPr/>
        </p:nvSpPr>
        <p:spPr>
          <a:xfrm>
            <a:off x="8549640" y="3236976"/>
            <a:ext cx="2560320" cy="320040"/>
          </a:xfrm>
          <a:prstGeom prst="rect">
            <a:avLst/>
          </a:prstGeom>
          <a:noFill/>
        </p:spPr>
        <p:txBody>
          <a:bodyPr wrap="square" lIns="0" rIns="0" tIns="0" bIns="0" anchor="ctr">
            <a:spAutoFit/>
          </a:bodyPr>
          <a:lstStyle/>
          <a:p>
            <a:pPr algn="l">
              <a:spcBef>
                <a:spcPts val="0"/>
              </a:spcBef>
              <a:spcAft>
                <a:spcPts val="0"/>
              </a:spcAft>
            </a:pPr>
            <a:r>
              <a:rPr sz="900" b="0">
                <a:solidFill>
                  <a:srgbClr val="667D7C"/>
                </a:solidFill>
                <a:latin typeface="Aptos"/>
              </a:rPr>
              <a:t>Ask the care team to confirm</a:t>
            </a:r>
          </a:p>
        </p:txBody>
      </p:sp>
      <p:sp>
        <p:nvSpPr>
          <p:cNvPr id="14" name="Rounded Rectangle 13"/>
          <p:cNvSpPr/>
          <p:nvPr/>
        </p:nvSpPr>
        <p:spPr>
          <a:xfrm>
            <a:off x="7863840" y="3767328"/>
            <a:ext cx="3383280" cy="859536"/>
          </a:xfrm>
          <a:prstGeom prst="roundRect">
            <a:avLst/>
          </a:prstGeom>
          <a:solidFill>
            <a:srgbClr val="FFF1D9"/>
          </a:solidFill>
          <a:ln w="12700">
            <a:solidFill>
              <a:srgbClr val="E8D5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28431" y="3941064"/>
            <a:ext cx="393192" cy="393192"/>
          </a:xfrm>
          <a:prstGeom prst="roundRect">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1" y="3931920"/>
            <a:ext cx="393192" cy="393192"/>
          </a:xfrm>
          <a:prstGeom prst="rect">
            <a:avLst/>
          </a:prstGeom>
          <a:noFill/>
        </p:spPr>
        <p:txBody>
          <a:bodyPr wrap="square" lIns="0" rIns="0" tIns="0" bIns="0" anchor="ctr">
            <a:spAutoFit/>
          </a:bodyPr>
          <a:lstStyle/>
          <a:p>
            <a:pPr algn="ctr">
              <a:spcBef>
                <a:spcPts val="0"/>
              </a:spcBef>
              <a:spcAft>
                <a:spcPts val="0"/>
              </a:spcAft>
            </a:pPr>
            <a:r>
              <a:rPr sz="1300" b="1">
                <a:solidFill>
                  <a:srgbClr val="B87527"/>
                </a:solidFill>
                <a:latin typeface="Aptos"/>
              </a:rPr>
              <a:t>!</a:t>
            </a:r>
          </a:p>
        </p:txBody>
      </p:sp>
      <p:sp>
        <p:nvSpPr>
          <p:cNvPr id="17" name="TextBox 16"/>
          <p:cNvSpPr txBox="1"/>
          <p:nvPr/>
        </p:nvSpPr>
        <p:spPr>
          <a:xfrm>
            <a:off x="8549640" y="3904488"/>
            <a:ext cx="2560320" cy="274320"/>
          </a:xfrm>
          <a:prstGeom prst="rect">
            <a:avLst/>
          </a:prstGeom>
          <a:noFill/>
        </p:spPr>
        <p:txBody>
          <a:bodyPr wrap="square" lIns="0" rIns="0" tIns="0" bIns="0" anchor="ctr">
            <a:spAutoFit/>
          </a:bodyPr>
          <a:lstStyle/>
          <a:p>
            <a:pPr algn="l">
              <a:spcBef>
                <a:spcPts val="0"/>
              </a:spcBef>
              <a:spcAft>
                <a:spcPts val="0"/>
              </a:spcAft>
            </a:pPr>
            <a:r>
              <a:rPr sz="1300" b="1">
                <a:solidFill>
                  <a:srgbClr val="213E45"/>
                </a:solidFill>
                <a:latin typeface="Aptos"/>
              </a:rPr>
              <a:t>Directions conflict</a:t>
            </a:r>
          </a:p>
        </p:txBody>
      </p:sp>
      <p:sp>
        <p:nvSpPr>
          <p:cNvPr id="18" name="TextBox 17"/>
          <p:cNvSpPr txBox="1"/>
          <p:nvPr/>
        </p:nvSpPr>
        <p:spPr>
          <a:xfrm>
            <a:off x="8549640" y="4224528"/>
            <a:ext cx="2560320" cy="320040"/>
          </a:xfrm>
          <a:prstGeom prst="rect">
            <a:avLst/>
          </a:prstGeom>
          <a:noFill/>
        </p:spPr>
        <p:txBody>
          <a:bodyPr wrap="square" lIns="0" rIns="0" tIns="0" bIns="0" anchor="ctr">
            <a:spAutoFit/>
          </a:bodyPr>
          <a:lstStyle/>
          <a:p>
            <a:pPr algn="l">
              <a:spcBef>
                <a:spcPts val="0"/>
              </a:spcBef>
              <a:spcAft>
                <a:spcPts val="0"/>
              </a:spcAft>
            </a:pPr>
            <a:r>
              <a:rPr sz="900" b="0">
                <a:solidFill>
                  <a:srgbClr val="667D7C"/>
                </a:solidFill>
                <a:latin typeface="Aptos"/>
              </a:rPr>
              <a:t>Both source lines stay visible</a:t>
            </a:r>
          </a:p>
        </p:txBody>
      </p:sp>
      <p:sp>
        <p:nvSpPr>
          <p:cNvPr id="19" name="Rounded Rectangle 18"/>
          <p:cNvSpPr/>
          <p:nvPr/>
        </p:nvSpPr>
        <p:spPr>
          <a:xfrm>
            <a:off x="7863840" y="4754880"/>
            <a:ext cx="3383280" cy="859536"/>
          </a:xfrm>
          <a:prstGeom prst="roundRect">
            <a:avLst/>
          </a:prstGeom>
          <a:solidFill>
            <a:srgbClr val="FFF1D9"/>
          </a:solidFill>
          <a:ln w="12700">
            <a:solidFill>
              <a:srgbClr val="E8D5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28431" y="4928616"/>
            <a:ext cx="393192" cy="393192"/>
          </a:xfrm>
          <a:prstGeom prst="roundRect">
            <a:avLst/>
          </a:prstGeom>
          <a:solidFill>
            <a:srgbClr val="FFF1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8431" y="4919472"/>
            <a:ext cx="393192" cy="393192"/>
          </a:xfrm>
          <a:prstGeom prst="rect">
            <a:avLst/>
          </a:prstGeom>
          <a:noFill/>
        </p:spPr>
        <p:txBody>
          <a:bodyPr wrap="square" lIns="0" rIns="0" tIns="0" bIns="0" anchor="ctr">
            <a:spAutoFit/>
          </a:bodyPr>
          <a:lstStyle/>
          <a:p>
            <a:pPr algn="ctr">
              <a:spcBef>
                <a:spcPts val="0"/>
              </a:spcBef>
              <a:spcAft>
                <a:spcPts val="0"/>
              </a:spcAft>
            </a:pPr>
            <a:r>
              <a:rPr sz="1300" b="1">
                <a:solidFill>
                  <a:srgbClr val="B87527"/>
                </a:solidFill>
                <a:latin typeface="Aptos"/>
              </a:rPr>
              <a:t>!</a:t>
            </a:r>
          </a:p>
        </p:txBody>
      </p:sp>
      <p:sp>
        <p:nvSpPr>
          <p:cNvPr id="22" name="TextBox 21"/>
          <p:cNvSpPr txBox="1"/>
          <p:nvPr/>
        </p:nvSpPr>
        <p:spPr>
          <a:xfrm>
            <a:off x="8549640" y="4892040"/>
            <a:ext cx="2560320" cy="274320"/>
          </a:xfrm>
          <a:prstGeom prst="rect">
            <a:avLst/>
          </a:prstGeom>
          <a:noFill/>
        </p:spPr>
        <p:txBody>
          <a:bodyPr wrap="square" lIns="0" rIns="0" tIns="0" bIns="0" anchor="ctr">
            <a:spAutoFit/>
          </a:bodyPr>
          <a:lstStyle/>
          <a:p>
            <a:pPr algn="l">
              <a:spcBef>
                <a:spcPts val="0"/>
              </a:spcBef>
              <a:spcAft>
                <a:spcPts val="0"/>
              </a:spcAft>
            </a:pPr>
            <a:r>
              <a:rPr sz="1300" b="1">
                <a:solidFill>
                  <a:srgbClr val="213E45"/>
                </a:solidFill>
                <a:latin typeface="Aptos"/>
              </a:rPr>
              <a:t>High-risk medicine</a:t>
            </a:r>
          </a:p>
        </p:txBody>
      </p:sp>
      <p:sp>
        <p:nvSpPr>
          <p:cNvPr id="23" name="TextBox 22"/>
          <p:cNvSpPr txBox="1"/>
          <p:nvPr/>
        </p:nvSpPr>
        <p:spPr>
          <a:xfrm>
            <a:off x="8549640" y="5212080"/>
            <a:ext cx="2560320" cy="320040"/>
          </a:xfrm>
          <a:prstGeom prst="rect">
            <a:avLst/>
          </a:prstGeom>
          <a:noFill/>
        </p:spPr>
        <p:txBody>
          <a:bodyPr wrap="square" lIns="0" rIns="0" tIns="0" bIns="0" anchor="ctr">
            <a:spAutoFit/>
          </a:bodyPr>
          <a:lstStyle/>
          <a:p>
            <a:pPr algn="l">
              <a:spcBef>
                <a:spcPts val="0"/>
              </a:spcBef>
              <a:spcAft>
                <a:spcPts val="0"/>
              </a:spcAft>
            </a:pPr>
            <a:r>
              <a:rPr sz="900" b="0">
                <a:solidFill>
                  <a:srgbClr val="667D7C"/>
                </a:solidFill>
                <a:latin typeface="Aptos"/>
              </a:rPr>
              <a:t>Never auto-confirm or schedule</a:t>
            </a:r>
          </a:p>
        </p:txBody>
      </p:sp>
      <p:sp>
        <p:nvSpPr>
          <p:cNvPr id="24" name="Rectangle 23"/>
          <p:cNvSpPr/>
          <p:nvPr/>
        </p:nvSpPr>
        <p:spPr>
          <a:xfrm>
            <a:off x="758952" y="5422392"/>
            <a:ext cx="6263640" cy="9144"/>
          </a:xfrm>
          <a:prstGeom prst="rect">
            <a:avLst/>
          </a:prstGeom>
          <a:solidFill>
            <a:srgbClr val="DD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5605272"/>
            <a:ext cx="6217920" cy="256032"/>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ClearCare  ·  Synthetic demo  ·  Not medical advice</a:t>
            </a:r>
          </a:p>
        </p:txBody>
      </p:sp>
      <p:sp>
        <p:nvSpPr>
          <p:cNvPr id="26" name="TextBox 25"/>
          <p:cNvSpPr txBox="1"/>
          <p:nvPr/>
        </p:nvSpPr>
        <p:spPr>
          <a:xfrm>
            <a:off x="10835640" y="6327648"/>
            <a:ext cx="822960" cy="210312"/>
          </a:xfrm>
          <a:prstGeom prst="rect">
            <a:avLst/>
          </a:prstGeom>
          <a:noFill/>
        </p:spPr>
        <p:txBody>
          <a:bodyPr wrap="square" lIns="0" rIns="0" tIns="0" bIns="0" anchor="ctr">
            <a:spAutoFit/>
          </a:bodyPr>
          <a:lstStyle/>
          <a:p>
            <a:pPr algn="r">
              <a:spcBef>
                <a:spcPts val="0"/>
              </a:spcBef>
              <a:spcAft>
                <a:spcPts val="0"/>
              </a:spcAft>
            </a:pPr>
            <a:r>
              <a:rPr sz="800" b="1">
                <a:solidFill>
                  <a:srgbClr val="667D7C"/>
                </a:solidFill>
                <a:latin typeface="Aptos"/>
              </a:rPr>
              <a:t>04 / 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6"/>
        </a:solidFill>
        <a:effectLst/>
      </p:bgPr>
    </p:bg>
    <p:spTree>
      <p:nvGrpSpPr>
        <p:cNvPr id="1" name=""/>
        <p:cNvGrpSpPr/>
        <p:nvPr/>
      </p:nvGrpSpPr>
      <p:grpSpPr/>
      <p:sp>
        <p:nvSpPr>
          <p:cNvPr id="2" name="Rectangle 1"/>
          <p:cNvSpPr/>
          <p:nvPr/>
        </p:nvSpPr>
        <p:spPr>
          <a:xfrm>
            <a:off x="502920" y="429768"/>
            <a:ext cx="100584" cy="329184"/>
          </a:xfrm>
          <a:prstGeom prst="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457200"/>
            <a:ext cx="64008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05  ·  CHECKLIST &amp; CALENDAR</a:t>
            </a:r>
          </a:p>
        </p:txBody>
      </p:sp>
      <p:sp>
        <p:nvSpPr>
          <p:cNvPr id="4" name="TextBox 3"/>
          <p:cNvSpPr txBox="1"/>
          <p:nvPr/>
        </p:nvSpPr>
        <p:spPr>
          <a:xfrm>
            <a:off x="758952" y="859536"/>
            <a:ext cx="6446520" cy="960120"/>
          </a:xfrm>
          <a:prstGeom prst="rect">
            <a:avLst/>
          </a:prstGeom>
          <a:noFill/>
        </p:spPr>
        <p:txBody>
          <a:bodyPr wrap="square" lIns="0" rIns="0" tIns="0" bIns="0" anchor="ctr">
            <a:spAutoFit/>
          </a:bodyPr>
          <a:lstStyle/>
          <a:p>
            <a:pPr algn="l">
              <a:spcBef>
                <a:spcPts val="0"/>
              </a:spcBef>
              <a:spcAft>
                <a:spcPts val="0"/>
              </a:spcAft>
            </a:pPr>
            <a:r>
              <a:rPr sz="2700" b="1">
                <a:solidFill>
                  <a:srgbClr val="213E45"/>
                </a:solidFill>
                <a:latin typeface="Aptos"/>
              </a:rPr>
              <a:t>A plan that fits real life.</a:t>
            </a:r>
          </a:p>
        </p:txBody>
      </p:sp>
      <p:sp>
        <p:nvSpPr>
          <p:cNvPr id="5" name="TextBox 4"/>
          <p:cNvSpPr txBox="1"/>
          <p:nvPr/>
        </p:nvSpPr>
        <p:spPr>
          <a:xfrm>
            <a:off x="758952" y="1993392"/>
            <a:ext cx="6172200" cy="1508760"/>
          </a:xfrm>
          <a:prstGeom prst="rect">
            <a:avLst/>
          </a:prstGeom>
          <a:noFill/>
        </p:spPr>
        <p:txBody>
          <a:bodyPr wrap="square" lIns="0" rIns="0" tIns="0" bIns="0" anchor="t">
            <a:spAutoFit/>
          </a:bodyPr>
          <a:lstStyle/>
          <a:p>
            <a:pPr algn="l">
              <a:spcBef>
                <a:spcPts val="0"/>
              </a:spcBef>
              <a:spcAft>
                <a:spcPts val="0"/>
              </a:spcAft>
            </a:pPr>
            <a:r>
              <a:rPr sz="1400" b="0">
                <a:solidFill>
                  <a:srgbClr val="667D7C"/>
                </a:solidFill>
                <a:latin typeface="Aptos"/>
              </a:rPr>
              <a:t>Every task has its own checkbox. Confirmed appointments can be shown on the calendar and exported as an .ics file; items needing review stay out.</a:t>
            </a:r>
          </a:p>
        </p:txBody>
      </p:sp>
      <p:sp>
        <p:nvSpPr>
          <p:cNvPr id="6" name="Rounded Rectangle 5"/>
          <p:cNvSpPr/>
          <p:nvPr/>
        </p:nvSpPr>
        <p:spPr>
          <a:xfrm>
            <a:off x="7635240" y="1517904"/>
            <a:ext cx="3840480" cy="4480560"/>
          </a:xfrm>
          <a:prstGeom prst="roundRect">
            <a:avLst/>
          </a:prstGeom>
          <a:solidFill>
            <a:srgbClr val="FFFFFF"/>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792224"/>
            <a:ext cx="27432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A SIMPLE CHECKLIST</a:t>
            </a:r>
          </a:p>
        </p:txBody>
      </p:sp>
      <p:sp>
        <p:nvSpPr>
          <p:cNvPr id="8" name="Rounded Rectangle 7"/>
          <p:cNvSpPr/>
          <p:nvPr/>
        </p:nvSpPr>
        <p:spPr>
          <a:xfrm>
            <a:off x="7863840" y="2295144"/>
            <a:ext cx="3383280" cy="731520"/>
          </a:xfrm>
          <a:prstGeom prst="roundRect">
            <a:avLst/>
          </a:prstGeom>
          <a:solidFill>
            <a:srgbClr val="FFFFFF"/>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28431" y="2468879"/>
            <a:ext cx="393192" cy="393192"/>
          </a:xfrm>
          <a:prstGeom prst="roundRect">
            <a:avLst/>
          </a:prstGeom>
          <a:solidFill>
            <a:srgbClr val="DD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28431" y="2459736"/>
            <a:ext cx="393192" cy="393192"/>
          </a:xfrm>
          <a:prstGeom prst="rect">
            <a:avLst/>
          </a:prstGeom>
          <a:noFill/>
        </p:spPr>
        <p:txBody>
          <a:bodyPr wrap="square" lIns="0" rIns="0" tIns="0" bIns="0" anchor="ctr">
            <a:spAutoFit/>
          </a:bodyPr>
          <a:lstStyle/>
          <a:p>
            <a:pPr algn="ctr">
              <a:spcBef>
                <a:spcPts val="0"/>
              </a:spcBef>
              <a:spcAft>
                <a:spcPts val="0"/>
              </a:spcAft>
            </a:pPr>
            <a:r>
              <a:rPr sz="1300" b="1">
                <a:solidFill>
                  <a:srgbClr val="2E7C72"/>
                </a:solidFill>
                <a:latin typeface="Aptos"/>
              </a:rPr>
              <a:t>1</a:t>
            </a:r>
          </a:p>
        </p:txBody>
      </p:sp>
      <p:sp>
        <p:nvSpPr>
          <p:cNvPr id="11" name="TextBox 10"/>
          <p:cNvSpPr txBox="1"/>
          <p:nvPr/>
        </p:nvSpPr>
        <p:spPr>
          <a:xfrm>
            <a:off x="8549640" y="2432303"/>
            <a:ext cx="2560320" cy="274320"/>
          </a:xfrm>
          <a:prstGeom prst="rect">
            <a:avLst/>
          </a:prstGeom>
          <a:noFill/>
        </p:spPr>
        <p:txBody>
          <a:bodyPr wrap="square" lIns="0" rIns="0" tIns="0" bIns="0" anchor="ctr">
            <a:spAutoFit/>
          </a:bodyPr>
          <a:lstStyle/>
          <a:p>
            <a:pPr algn="l">
              <a:spcBef>
                <a:spcPts val="0"/>
              </a:spcBef>
              <a:spcAft>
                <a:spcPts val="0"/>
              </a:spcAft>
            </a:pPr>
            <a:r>
              <a:rPr sz="1300" b="1">
                <a:solidFill>
                  <a:srgbClr val="213E45"/>
                </a:solidFill>
                <a:latin typeface="Aptos"/>
              </a:rPr>
              <a:t>Buy medication: A</a:t>
            </a:r>
          </a:p>
        </p:txBody>
      </p:sp>
      <p:sp>
        <p:nvSpPr>
          <p:cNvPr id="12" name="TextBox 11"/>
          <p:cNvSpPr txBox="1"/>
          <p:nvPr/>
        </p:nvSpPr>
        <p:spPr>
          <a:xfrm>
            <a:off x="8549640" y="2752344"/>
            <a:ext cx="2560320" cy="320040"/>
          </a:xfrm>
          <a:prstGeom prst="rect">
            <a:avLst/>
          </a:prstGeom>
          <a:noFill/>
        </p:spPr>
        <p:txBody>
          <a:bodyPr wrap="square" lIns="0" rIns="0" tIns="0" bIns="0" anchor="ctr">
            <a:spAutoFit/>
          </a:bodyPr>
          <a:lstStyle/>
          <a:p>
            <a:pPr algn="l">
              <a:spcBef>
                <a:spcPts val="0"/>
              </a:spcBef>
              <a:spcAft>
                <a:spcPts val="0"/>
              </a:spcAft>
            </a:pPr>
            <a:r>
              <a:rPr sz="900" b="0">
                <a:solidFill>
                  <a:srgbClr val="667D7C"/>
                </a:solidFill>
                <a:latin typeface="Aptos"/>
              </a:rPr>
              <a:t>A separate reminder</a:t>
            </a:r>
          </a:p>
        </p:txBody>
      </p:sp>
      <p:sp>
        <p:nvSpPr>
          <p:cNvPr id="13" name="Rounded Rectangle 12"/>
          <p:cNvSpPr/>
          <p:nvPr/>
        </p:nvSpPr>
        <p:spPr>
          <a:xfrm>
            <a:off x="7863840" y="3145536"/>
            <a:ext cx="3383280" cy="731520"/>
          </a:xfrm>
          <a:prstGeom prst="roundRect">
            <a:avLst/>
          </a:prstGeom>
          <a:solidFill>
            <a:srgbClr val="FFFFFF"/>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28431" y="3319272"/>
            <a:ext cx="393192" cy="393192"/>
          </a:xfrm>
          <a:prstGeom prst="roundRect">
            <a:avLst/>
          </a:prstGeom>
          <a:solidFill>
            <a:srgbClr val="DD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28431" y="3310128"/>
            <a:ext cx="393192" cy="393192"/>
          </a:xfrm>
          <a:prstGeom prst="rect">
            <a:avLst/>
          </a:prstGeom>
          <a:noFill/>
        </p:spPr>
        <p:txBody>
          <a:bodyPr wrap="square" lIns="0" rIns="0" tIns="0" bIns="0" anchor="ctr">
            <a:spAutoFit/>
          </a:bodyPr>
          <a:lstStyle/>
          <a:p>
            <a:pPr algn="ctr">
              <a:spcBef>
                <a:spcPts val="0"/>
              </a:spcBef>
              <a:spcAft>
                <a:spcPts val="0"/>
              </a:spcAft>
            </a:pPr>
            <a:r>
              <a:rPr sz="1300" b="1">
                <a:solidFill>
                  <a:srgbClr val="2E7C72"/>
                </a:solidFill>
                <a:latin typeface="Aptos"/>
              </a:rPr>
              <a:t>2</a:t>
            </a:r>
          </a:p>
        </p:txBody>
      </p:sp>
      <p:sp>
        <p:nvSpPr>
          <p:cNvPr id="16" name="TextBox 15"/>
          <p:cNvSpPr txBox="1"/>
          <p:nvPr/>
        </p:nvSpPr>
        <p:spPr>
          <a:xfrm>
            <a:off x="8549640" y="3282696"/>
            <a:ext cx="2560320" cy="274320"/>
          </a:xfrm>
          <a:prstGeom prst="rect">
            <a:avLst/>
          </a:prstGeom>
          <a:noFill/>
        </p:spPr>
        <p:txBody>
          <a:bodyPr wrap="square" lIns="0" rIns="0" tIns="0" bIns="0" anchor="ctr">
            <a:spAutoFit/>
          </a:bodyPr>
          <a:lstStyle/>
          <a:p>
            <a:pPr algn="l">
              <a:spcBef>
                <a:spcPts val="0"/>
              </a:spcBef>
              <a:spcAft>
                <a:spcPts val="0"/>
              </a:spcAft>
            </a:pPr>
            <a:r>
              <a:rPr sz="1300" b="1">
                <a:solidFill>
                  <a:srgbClr val="213E45"/>
                </a:solidFill>
                <a:latin typeface="Aptos"/>
              </a:rPr>
              <a:t>Buy medication: B</a:t>
            </a:r>
          </a:p>
        </p:txBody>
      </p:sp>
      <p:sp>
        <p:nvSpPr>
          <p:cNvPr id="17" name="TextBox 16"/>
          <p:cNvSpPr txBox="1"/>
          <p:nvPr/>
        </p:nvSpPr>
        <p:spPr>
          <a:xfrm>
            <a:off x="8549640" y="3602736"/>
            <a:ext cx="2560320" cy="320040"/>
          </a:xfrm>
          <a:prstGeom prst="rect">
            <a:avLst/>
          </a:prstGeom>
          <a:noFill/>
        </p:spPr>
        <p:txBody>
          <a:bodyPr wrap="square" lIns="0" rIns="0" tIns="0" bIns="0" anchor="ctr">
            <a:spAutoFit/>
          </a:bodyPr>
          <a:lstStyle/>
          <a:p>
            <a:pPr algn="l">
              <a:spcBef>
                <a:spcPts val="0"/>
              </a:spcBef>
              <a:spcAft>
                <a:spcPts val="0"/>
              </a:spcAft>
            </a:pPr>
            <a:r>
              <a:rPr sz="900" b="0">
                <a:solidFill>
                  <a:srgbClr val="667D7C"/>
                </a:solidFill>
                <a:latin typeface="Aptos"/>
              </a:rPr>
              <a:t>Its own checkbox</a:t>
            </a:r>
          </a:p>
        </p:txBody>
      </p:sp>
      <p:sp>
        <p:nvSpPr>
          <p:cNvPr id="18" name="Rounded Rectangle 17"/>
          <p:cNvSpPr/>
          <p:nvPr/>
        </p:nvSpPr>
        <p:spPr>
          <a:xfrm>
            <a:off x="7863840" y="4078224"/>
            <a:ext cx="3383280" cy="1389888"/>
          </a:xfrm>
          <a:prstGeom prst="roundRect">
            <a:avLst/>
          </a:prstGeom>
          <a:solidFill>
            <a:srgbClr val="F4F8F6"/>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74152" y="4261104"/>
            <a:ext cx="2926080" cy="246888"/>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OCTOBER 2026</a:t>
            </a:r>
          </a:p>
        </p:txBody>
      </p:sp>
      <p:sp>
        <p:nvSpPr>
          <p:cNvPr id="20" name="TextBox 19"/>
          <p:cNvSpPr txBox="1"/>
          <p:nvPr/>
        </p:nvSpPr>
        <p:spPr>
          <a:xfrm>
            <a:off x="8055864" y="4608576"/>
            <a:ext cx="256032" cy="201168"/>
          </a:xfrm>
          <a:prstGeom prst="rect">
            <a:avLst/>
          </a:prstGeom>
          <a:noFill/>
        </p:spPr>
        <p:txBody>
          <a:bodyPr wrap="square" lIns="0" rIns="0" tIns="0" bIns="0" anchor="ctr">
            <a:spAutoFit/>
          </a:bodyPr>
          <a:lstStyle/>
          <a:p>
            <a:pPr algn="ctr">
              <a:spcBef>
                <a:spcPts val="0"/>
              </a:spcBef>
              <a:spcAft>
                <a:spcPts val="0"/>
              </a:spcAft>
            </a:pPr>
            <a:r>
              <a:rPr sz="800" b="1">
                <a:solidFill>
                  <a:srgbClr val="667D7C"/>
                </a:solidFill>
                <a:latin typeface="Aptos"/>
              </a:rPr>
              <a:t>M</a:t>
            </a:r>
          </a:p>
        </p:txBody>
      </p:sp>
      <p:sp>
        <p:nvSpPr>
          <p:cNvPr id="21" name="TextBox 20"/>
          <p:cNvSpPr txBox="1"/>
          <p:nvPr/>
        </p:nvSpPr>
        <p:spPr>
          <a:xfrm>
            <a:off x="8467344" y="4608576"/>
            <a:ext cx="256032" cy="201168"/>
          </a:xfrm>
          <a:prstGeom prst="rect">
            <a:avLst/>
          </a:prstGeom>
          <a:noFill/>
        </p:spPr>
        <p:txBody>
          <a:bodyPr wrap="square" lIns="0" rIns="0" tIns="0" bIns="0" anchor="ctr">
            <a:spAutoFit/>
          </a:bodyPr>
          <a:lstStyle/>
          <a:p>
            <a:pPr algn="ctr">
              <a:spcBef>
                <a:spcPts val="0"/>
              </a:spcBef>
              <a:spcAft>
                <a:spcPts val="0"/>
              </a:spcAft>
            </a:pPr>
            <a:r>
              <a:rPr sz="800" b="1">
                <a:solidFill>
                  <a:srgbClr val="667D7C"/>
                </a:solidFill>
                <a:latin typeface="Aptos"/>
              </a:rPr>
              <a:t>T</a:t>
            </a:r>
          </a:p>
        </p:txBody>
      </p:sp>
      <p:sp>
        <p:nvSpPr>
          <p:cNvPr id="22" name="TextBox 21"/>
          <p:cNvSpPr txBox="1"/>
          <p:nvPr/>
        </p:nvSpPr>
        <p:spPr>
          <a:xfrm>
            <a:off x="8878824" y="4608576"/>
            <a:ext cx="256032" cy="201168"/>
          </a:xfrm>
          <a:prstGeom prst="rect">
            <a:avLst/>
          </a:prstGeom>
          <a:noFill/>
        </p:spPr>
        <p:txBody>
          <a:bodyPr wrap="square" lIns="0" rIns="0" tIns="0" bIns="0" anchor="ctr">
            <a:spAutoFit/>
          </a:bodyPr>
          <a:lstStyle/>
          <a:p>
            <a:pPr algn="ctr">
              <a:spcBef>
                <a:spcPts val="0"/>
              </a:spcBef>
              <a:spcAft>
                <a:spcPts val="0"/>
              </a:spcAft>
            </a:pPr>
            <a:r>
              <a:rPr sz="800" b="1">
                <a:solidFill>
                  <a:srgbClr val="667D7C"/>
                </a:solidFill>
                <a:latin typeface="Aptos"/>
              </a:rPr>
              <a:t>W</a:t>
            </a:r>
          </a:p>
        </p:txBody>
      </p:sp>
      <p:sp>
        <p:nvSpPr>
          <p:cNvPr id="23" name="TextBox 22"/>
          <p:cNvSpPr txBox="1"/>
          <p:nvPr/>
        </p:nvSpPr>
        <p:spPr>
          <a:xfrm>
            <a:off x="9290304" y="4608576"/>
            <a:ext cx="256032" cy="201168"/>
          </a:xfrm>
          <a:prstGeom prst="rect">
            <a:avLst/>
          </a:prstGeom>
          <a:noFill/>
        </p:spPr>
        <p:txBody>
          <a:bodyPr wrap="square" lIns="0" rIns="0" tIns="0" bIns="0" anchor="ctr">
            <a:spAutoFit/>
          </a:bodyPr>
          <a:lstStyle/>
          <a:p>
            <a:pPr algn="ctr">
              <a:spcBef>
                <a:spcPts val="0"/>
              </a:spcBef>
              <a:spcAft>
                <a:spcPts val="0"/>
              </a:spcAft>
            </a:pPr>
            <a:r>
              <a:rPr sz="800" b="1">
                <a:solidFill>
                  <a:srgbClr val="667D7C"/>
                </a:solidFill>
                <a:latin typeface="Aptos"/>
              </a:rPr>
              <a:t>T</a:t>
            </a:r>
          </a:p>
        </p:txBody>
      </p:sp>
      <p:sp>
        <p:nvSpPr>
          <p:cNvPr id="24" name="TextBox 23"/>
          <p:cNvSpPr txBox="1"/>
          <p:nvPr/>
        </p:nvSpPr>
        <p:spPr>
          <a:xfrm>
            <a:off x="9701784" y="4608576"/>
            <a:ext cx="256032" cy="201168"/>
          </a:xfrm>
          <a:prstGeom prst="rect">
            <a:avLst/>
          </a:prstGeom>
          <a:noFill/>
        </p:spPr>
        <p:txBody>
          <a:bodyPr wrap="square" lIns="0" rIns="0" tIns="0" bIns="0" anchor="ctr">
            <a:spAutoFit/>
          </a:bodyPr>
          <a:lstStyle/>
          <a:p>
            <a:pPr algn="ctr">
              <a:spcBef>
                <a:spcPts val="0"/>
              </a:spcBef>
              <a:spcAft>
                <a:spcPts val="0"/>
              </a:spcAft>
            </a:pPr>
            <a:r>
              <a:rPr sz="800" b="1">
                <a:solidFill>
                  <a:srgbClr val="667D7C"/>
                </a:solidFill>
                <a:latin typeface="Aptos"/>
              </a:rPr>
              <a:t>F</a:t>
            </a:r>
          </a:p>
        </p:txBody>
      </p:sp>
      <p:sp>
        <p:nvSpPr>
          <p:cNvPr id="25" name="TextBox 24"/>
          <p:cNvSpPr txBox="1"/>
          <p:nvPr/>
        </p:nvSpPr>
        <p:spPr>
          <a:xfrm>
            <a:off x="10113264" y="4608576"/>
            <a:ext cx="256032" cy="201168"/>
          </a:xfrm>
          <a:prstGeom prst="rect">
            <a:avLst/>
          </a:prstGeom>
          <a:noFill/>
        </p:spPr>
        <p:txBody>
          <a:bodyPr wrap="square" lIns="0" rIns="0" tIns="0" bIns="0" anchor="ctr">
            <a:spAutoFit/>
          </a:bodyPr>
          <a:lstStyle/>
          <a:p>
            <a:pPr algn="ctr">
              <a:spcBef>
                <a:spcPts val="0"/>
              </a:spcBef>
              <a:spcAft>
                <a:spcPts val="0"/>
              </a:spcAft>
            </a:pPr>
            <a:r>
              <a:rPr sz="800" b="1">
                <a:solidFill>
                  <a:srgbClr val="667D7C"/>
                </a:solidFill>
                <a:latin typeface="Aptos"/>
              </a:rPr>
              <a:t>S</a:t>
            </a:r>
          </a:p>
        </p:txBody>
      </p:sp>
      <p:sp>
        <p:nvSpPr>
          <p:cNvPr id="26" name="TextBox 25"/>
          <p:cNvSpPr txBox="1"/>
          <p:nvPr/>
        </p:nvSpPr>
        <p:spPr>
          <a:xfrm>
            <a:off x="10524744" y="4608576"/>
            <a:ext cx="256032" cy="201168"/>
          </a:xfrm>
          <a:prstGeom prst="rect">
            <a:avLst/>
          </a:prstGeom>
          <a:noFill/>
        </p:spPr>
        <p:txBody>
          <a:bodyPr wrap="square" lIns="0" rIns="0" tIns="0" bIns="0" anchor="ctr">
            <a:spAutoFit/>
          </a:bodyPr>
          <a:lstStyle/>
          <a:p>
            <a:pPr algn="ctr">
              <a:spcBef>
                <a:spcPts val="0"/>
              </a:spcBef>
              <a:spcAft>
                <a:spcPts val="0"/>
              </a:spcAft>
            </a:pPr>
            <a:r>
              <a:rPr sz="800" b="1">
                <a:solidFill>
                  <a:srgbClr val="667D7C"/>
                </a:solidFill>
                <a:latin typeface="Aptos"/>
              </a:rPr>
              <a:t>S</a:t>
            </a:r>
          </a:p>
        </p:txBody>
      </p:sp>
      <p:sp>
        <p:nvSpPr>
          <p:cNvPr id="27" name="Rounded Rectangle 26"/>
          <p:cNvSpPr/>
          <p:nvPr/>
        </p:nvSpPr>
        <p:spPr>
          <a:xfrm>
            <a:off x="8028431" y="4901184"/>
            <a:ext cx="301752" cy="310896"/>
          </a:xfrm>
          <a:prstGeom prst="roundRect">
            <a:avLst/>
          </a:prstGeom>
          <a:solidFill>
            <a:srgbClr val="FFFFFF"/>
          </a:solidFill>
          <a:ln w="12700">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28431" y="4928616"/>
            <a:ext cx="301752" cy="228600"/>
          </a:xfrm>
          <a:prstGeom prst="rect">
            <a:avLst/>
          </a:prstGeom>
          <a:noFill/>
        </p:spPr>
        <p:txBody>
          <a:bodyPr wrap="square" lIns="0" rIns="0" tIns="0" bIns="0" anchor="ctr">
            <a:spAutoFit/>
          </a:bodyPr>
          <a:lstStyle/>
          <a:p>
            <a:pPr algn="ctr">
              <a:spcBef>
                <a:spcPts val="0"/>
              </a:spcBef>
              <a:spcAft>
                <a:spcPts val="0"/>
              </a:spcAft>
            </a:pPr>
            <a:r>
              <a:rPr sz="800" b="0">
                <a:solidFill>
                  <a:srgbClr val="213E45"/>
                </a:solidFill>
                <a:latin typeface="Aptos"/>
              </a:rPr>
              <a:t>19</a:t>
            </a:r>
          </a:p>
        </p:txBody>
      </p:sp>
      <p:sp>
        <p:nvSpPr>
          <p:cNvPr id="29" name="Rounded Rectangle 28"/>
          <p:cNvSpPr/>
          <p:nvPr/>
        </p:nvSpPr>
        <p:spPr>
          <a:xfrm>
            <a:off x="8439911" y="4901184"/>
            <a:ext cx="301752" cy="310896"/>
          </a:xfrm>
          <a:prstGeom prst="roundRect">
            <a:avLst/>
          </a:prstGeom>
          <a:solidFill>
            <a:srgbClr val="DDF2EB"/>
          </a:solidFill>
          <a:ln w="12700">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39911" y="4928616"/>
            <a:ext cx="301752" cy="228600"/>
          </a:xfrm>
          <a:prstGeom prst="rect">
            <a:avLst/>
          </a:prstGeom>
          <a:noFill/>
        </p:spPr>
        <p:txBody>
          <a:bodyPr wrap="square" lIns="0" rIns="0" tIns="0" bIns="0" anchor="ctr">
            <a:spAutoFit/>
          </a:bodyPr>
          <a:lstStyle/>
          <a:p>
            <a:pPr algn="ctr">
              <a:spcBef>
                <a:spcPts val="0"/>
              </a:spcBef>
              <a:spcAft>
                <a:spcPts val="0"/>
              </a:spcAft>
            </a:pPr>
            <a:r>
              <a:rPr sz="800" b="1">
                <a:solidFill>
                  <a:srgbClr val="2E7C72"/>
                </a:solidFill>
                <a:latin typeface="Aptos"/>
              </a:rPr>
              <a:t>20</a:t>
            </a:r>
          </a:p>
        </p:txBody>
      </p:sp>
      <p:sp>
        <p:nvSpPr>
          <p:cNvPr id="31" name="Rounded Rectangle 30"/>
          <p:cNvSpPr/>
          <p:nvPr/>
        </p:nvSpPr>
        <p:spPr>
          <a:xfrm>
            <a:off x="8851392" y="4901184"/>
            <a:ext cx="301752" cy="310896"/>
          </a:xfrm>
          <a:prstGeom prst="roundRect">
            <a:avLst/>
          </a:prstGeom>
          <a:solidFill>
            <a:srgbClr val="FFFFFF"/>
          </a:solidFill>
          <a:ln w="12700">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51392" y="4928616"/>
            <a:ext cx="301752" cy="228600"/>
          </a:xfrm>
          <a:prstGeom prst="rect">
            <a:avLst/>
          </a:prstGeom>
          <a:noFill/>
        </p:spPr>
        <p:txBody>
          <a:bodyPr wrap="square" lIns="0" rIns="0" tIns="0" bIns="0" anchor="ctr">
            <a:spAutoFit/>
          </a:bodyPr>
          <a:lstStyle/>
          <a:p>
            <a:pPr algn="ctr">
              <a:spcBef>
                <a:spcPts val="0"/>
              </a:spcBef>
              <a:spcAft>
                <a:spcPts val="0"/>
              </a:spcAft>
            </a:pPr>
            <a:r>
              <a:rPr sz="800" b="0">
                <a:solidFill>
                  <a:srgbClr val="213E45"/>
                </a:solidFill>
                <a:latin typeface="Aptos"/>
              </a:rPr>
              <a:t>21</a:t>
            </a:r>
          </a:p>
        </p:txBody>
      </p:sp>
      <p:sp>
        <p:nvSpPr>
          <p:cNvPr id="33" name="Rounded Rectangle 32"/>
          <p:cNvSpPr/>
          <p:nvPr/>
        </p:nvSpPr>
        <p:spPr>
          <a:xfrm>
            <a:off x="9262872" y="4901184"/>
            <a:ext cx="301752" cy="310896"/>
          </a:xfrm>
          <a:prstGeom prst="roundRect">
            <a:avLst/>
          </a:prstGeom>
          <a:solidFill>
            <a:srgbClr val="FFFFFF"/>
          </a:solidFill>
          <a:ln w="12700">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62872" y="4928616"/>
            <a:ext cx="301752" cy="228600"/>
          </a:xfrm>
          <a:prstGeom prst="rect">
            <a:avLst/>
          </a:prstGeom>
          <a:noFill/>
        </p:spPr>
        <p:txBody>
          <a:bodyPr wrap="square" lIns="0" rIns="0" tIns="0" bIns="0" anchor="ctr">
            <a:spAutoFit/>
          </a:bodyPr>
          <a:lstStyle/>
          <a:p>
            <a:pPr algn="ctr">
              <a:spcBef>
                <a:spcPts val="0"/>
              </a:spcBef>
              <a:spcAft>
                <a:spcPts val="0"/>
              </a:spcAft>
            </a:pPr>
            <a:r>
              <a:rPr sz="800" b="0">
                <a:solidFill>
                  <a:srgbClr val="213E45"/>
                </a:solidFill>
                <a:latin typeface="Aptos"/>
              </a:rPr>
              <a:t>22</a:t>
            </a:r>
          </a:p>
        </p:txBody>
      </p:sp>
      <p:sp>
        <p:nvSpPr>
          <p:cNvPr id="35" name="Rounded Rectangle 34"/>
          <p:cNvSpPr/>
          <p:nvPr/>
        </p:nvSpPr>
        <p:spPr>
          <a:xfrm>
            <a:off x="9674352" y="4901184"/>
            <a:ext cx="301752" cy="310896"/>
          </a:xfrm>
          <a:prstGeom prst="roundRect">
            <a:avLst/>
          </a:prstGeom>
          <a:solidFill>
            <a:srgbClr val="FFFFFF"/>
          </a:solidFill>
          <a:ln w="12700">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74352" y="4928616"/>
            <a:ext cx="301752" cy="228600"/>
          </a:xfrm>
          <a:prstGeom prst="rect">
            <a:avLst/>
          </a:prstGeom>
          <a:noFill/>
        </p:spPr>
        <p:txBody>
          <a:bodyPr wrap="square" lIns="0" rIns="0" tIns="0" bIns="0" anchor="ctr">
            <a:spAutoFit/>
          </a:bodyPr>
          <a:lstStyle/>
          <a:p>
            <a:pPr algn="ctr">
              <a:spcBef>
                <a:spcPts val="0"/>
              </a:spcBef>
              <a:spcAft>
                <a:spcPts val="0"/>
              </a:spcAft>
            </a:pPr>
            <a:r>
              <a:rPr sz="800" b="0">
                <a:solidFill>
                  <a:srgbClr val="213E45"/>
                </a:solidFill>
                <a:latin typeface="Aptos"/>
              </a:rPr>
              <a:t>23</a:t>
            </a:r>
          </a:p>
        </p:txBody>
      </p:sp>
      <p:sp>
        <p:nvSpPr>
          <p:cNvPr id="37" name="Rounded Rectangle 36"/>
          <p:cNvSpPr/>
          <p:nvPr/>
        </p:nvSpPr>
        <p:spPr>
          <a:xfrm>
            <a:off x="10085832" y="4901184"/>
            <a:ext cx="301752" cy="310896"/>
          </a:xfrm>
          <a:prstGeom prst="roundRect">
            <a:avLst/>
          </a:prstGeom>
          <a:solidFill>
            <a:srgbClr val="FFFFFF"/>
          </a:solidFill>
          <a:ln w="12700">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85832" y="4928616"/>
            <a:ext cx="301752" cy="228600"/>
          </a:xfrm>
          <a:prstGeom prst="rect">
            <a:avLst/>
          </a:prstGeom>
          <a:noFill/>
        </p:spPr>
        <p:txBody>
          <a:bodyPr wrap="square" lIns="0" rIns="0" tIns="0" bIns="0" anchor="ctr">
            <a:spAutoFit/>
          </a:bodyPr>
          <a:lstStyle/>
          <a:p>
            <a:pPr algn="ctr">
              <a:spcBef>
                <a:spcPts val="0"/>
              </a:spcBef>
              <a:spcAft>
                <a:spcPts val="0"/>
              </a:spcAft>
            </a:pPr>
            <a:r>
              <a:rPr sz="800" b="0">
                <a:solidFill>
                  <a:srgbClr val="213E45"/>
                </a:solidFill>
                <a:latin typeface="Aptos"/>
              </a:rPr>
              <a:t>24</a:t>
            </a:r>
          </a:p>
        </p:txBody>
      </p:sp>
      <p:sp>
        <p:nvSpPr>
          <p:cNvPr id="39" name="Rounded Rectangle 38"/>
          <p:cNvSpPr/>
          <p:nvPr/>
        </p:nvSpPr>
        <p:spPr>
          <a:xfrm>
            <a:off x="10497312" y="4901184"/>
            <a:ext cx="301752" cy="310896"/>
          </a:xfrm>
          <a:prstGeom prst="roundRect">
            <a:avLst/>
          </a:prstGeom>
          <a:solidFill>
            <a:srgbClr val="FFFFFF"/>
          </a:solidFill>
          <a:ln w="12700">
            <a:solidFill>
              <a:srgbClr val="E4EC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97312" y="4928616"/>
            <a:ext cx="301752" cy="228600"/>
          </a:xfrm>
          <a:prstGeom prst="rect">
            <a:avLst/>
          </a:prstGeom>
          <a:noFill/>
        </p:spPr>
        <p:txBody>
          <a:bodyPr wrap="square" lIns="0" rIns="0" tIns="0" bIns="0" anchor="ctr">
            <a:spAutoFit/>
          </a:bodyPr>
          <a:lstStyle/>
          <a:p>
            <a:pPr algn="ctr">
              <a:spcBef>
                <a:spcPts val="0"/>
              </a:spcBef>
              <a:spcAft>
                <a:spcPts val="0"/>
              </a:spcAft>
            </a:pPr>
            <a:r>
              <a:rPr sz="800" b="0">
                <a:solidFill>
                  <a:srgbClr val="213E45"/>
                </a:solidFill>
                <a:latin typeface="Aptos"/>
              </a:rPr>
              <a:t>25</a:t>
            </a:r>
          </a:p>
        </p:txBody>
      </p:sp>
      <p:sp>
        <p:nvSpPr>
          <p:cNvPr id="41" name="TextBox 40"/>
          <p:cNvSpPr txBox="1"/>
          <p:nvPr/>
        </p:nvSpPr>
        <p:spPr>
          <a:xfrm>
            <a:off x="7955279" y="5678424"/>
            <a:ext cx="3200400" cy="237744"/>
          </a:xfrm>
          <a:prstGeom prst="rect">
            <a:avLst/>
          </a:prstGeom>
          <a:noFill/>
        </p:spPr>
        <p:txBody>
          <a:bodyPr wrap="square" lIns="0" rIns="0" tIns="0" bIns="0" anchor="ctr">
            <a:spAutoFit/>
          </a:bodyPr>
          <a:lstStyle/>
          <a:p>
            <a:pPr algn="ctr">
              <a:spcBef>
                <a:spcPts val="0"/>
              </a:spcBef>
              <a:spcAft>
                <a:spcPts val="0"/>
              </a:spcAft>
            </a:pPr>
            <a:r>
              <a:rPr sz="800" b="0">
                <a:solidFill>
                  <a:srgbClr val="667D7C"/>
                </a:solidFill>
                <a:latin typeface="Aptos"/>
              </a:rPr>
              <a:t>Only complete, confirmed visits export</a:t>
            </a:r>
          </a:p>
        </p:txBody>
      </p:sp>
      <p:sp>
        <p:nvSpPr>
          <p:cNvPr id="42" name="Rectangle 41"/>
          <p:cNvSpPr/>
          <p:nvPr/>
        </p:nvSpPr>
        <p:spPr>
          <a:xfrm>
            <a:off x="758952" y="5422392"/>
            <a:ext cx="6263640" cy="9144"/>
          </a:xfrm>
          <a:prstGeom prst="rect">
            <a:avLst/>
          </a:prstGeom>
          <a:solidFill>
            <a:srgbClr val="DD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952" y="5605272"/>
            <a:ext cx="6217920" cy="256032"/>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ClearCare  ·  Synthetic demo  ·  Not medical advice</a:t>
            </a:r>
          </a:p>
        </p:txBody>
      </p:sp>
      <p:sp>
        <p:nvSpPr>
          <p:cNvPr id="44" name="TextBox 43"/>
          <p:cNvSpPr txBox="1"/>
          <p:nvPr/>
        </p:nvSpPr>
        <p:spPr>
          <a:xfrm>
            <a:off x="10835640" y="6327648"/>
            <a:ext cx="822960" cy="210312"/>
          </a:xfrm>
          <a:prstGeom prst="rect">
            <a:avLst/>
          </a:prstGeom>
          <a:noFill/>
        </p:spPr>
        <p:txBody>
          <a:bodyPr wrap="square" lIns="0" rIns="0" tIns="0" bIns="0" anchor="ctr">
            <a:spAutoFit/>
          </a:bodyPr>
          <a:lstStyle/>
          <a:p>
            <a:pPr algn="r">
              <a:spcBef>
                <a:spcPts val="0"/>
              </a:spcBef>
              <a:spcAft>
                <a:spcPts val="0"/>
              </a:spcAft>
            </a:pPr>
            <a:r>
              <a:rPr sz="800" b="1">
                <a:solidFill>
                  <a:srgbClr val="667D7C"/>
                </a:solidFill>
                <a:latin typeface="Aptos"/>
              </a:rPr>
              <a:t>05 /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6"/>
        </a:solidFill>
        <a:effectLst/>
      </p:bgPr>
    </p:bg>
    <p:spTree>
      <p:nvGrpSpPr>
        <p:cNvPr id="1" name=""/>
        <p:cNvGrpSpPr/>
        <p:nvPr/>
      </p:nvGrpSpPr>
      <p:grpSpPr/>
      <p:sp>
        <p:nvSpPr>
          <p:cNvPr id="2" name="Rectangle 1"/>
          <p:cNvSpPr/>
          <p:nvPr/>
        </p:nvSpPr>
        <p:spPr>
          <a:xfrm>
            <a:off x="502920" y="429768"/>
            <a:ext cx="100584" cy="329184"/>
          </a:xfrm>
          <a:prstGeom prst="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457200"/>
            <a:ext cx="64008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06  ·  LANGUAGE &amp; VOICE</a:t>
            </a:r>
          </a:p>
        </p:txBody>
      </p:sp>
      <p:sp>
        <p:nvSpPr>
          <p:cNvPr id="4" name="TextBox 3"/>
          <p:cNvSpPr txBox="1"/>
          <p:nvPr/>
        </p:nvSpPr>
        <p:spPr>
          <a:xfrm>
            <a:off x="758952" y="859536"/>
            <a:ext cx="6446520" cy="960120"/>
          </a:xfrm>
          <a:prstGeom prst="rect">
            <a:avLst/>
          </a:prstGeom>
          <a:noFill/>
        </p:spPr>
        <p:txBody>
          <a:bodyPr wrap="square" lIns="0" rIns="0" tIns="0" bIns="0" anchor="ctr">
            <a:spAutoFit/>
          </a:bodyPr>
          <a:lstStyle/>
          <a:p>
            <a:pPr algn="l">
              <a:spcBef>
                <a:spcPts val="0"/>
              </a:spcBef>
              <a:spcAft>
                <a:spcPts val="0"/>
              </a:spcAft>
            </a:pPr>
            <a:r>
              <a:rPr sz="2700" b="1">
                <a:solidFill>
                  <a:srgbClr val="213E45"/>
                </a:solidFill>
                <a:latin typeface="Aptos"/>
              </a:rPr>
              <a:t>Make the plan easier to use.</a:t>
            </a:r>
          </a:p>
        </p:txBody>
      </p:sp>
      <p:sp>
        <p:nvSpPr>
          <p:cNvPr id="5" name="TextBox 4"/>
          <p:cNvSpPr txBox="1"/>
          <p:nvPr/>
        </p:nvSpPr>
        <p:spPr>
          <a:xfrm>
            <a:off x="758952" y="1993392"/>
            <a:ext cx="6172200" cy="1508760"/>
          </a:xfrm>
          <a:prstGeom prst="rect">
            <a:avLst/>
          </a:prstGeom>
          <a:noFill/>
        </p:spPr>
        <p:txBody>
          <a:bodyPr wrap="square" lIns="0" rIns="0" tIns="0" bIns="0" anchor="t">
            <a:spAutoFit/>
          </a:bodyPr>
          <a:lstStyle/>
          <a:p>
            <a:pPr algn="l">
              <a:spcBef>
                <a:spcPts val="0"/>
              </a:spcBef>
              <a:spcAft>
                <a:spcPts val="0"/>
              </a:spcAft>
            </a:pPr>
            <a:r>
              <a:rPr sz="1400" b="0">
                <a:solidFill>
                  <a:srgbClr val="667D7C"/>
                </a:solidFill>
                <a:latin typeface="Aptos"/>
              </a:rPr>
              <a:t>English, Spanish, and Hindi are available in Settings. Today · Hear my day adds a readable transcript, browser voice controls, and document questions.</a:t>
            </a:r>
          </a:p>
        </p:txBody>
      </p:sp>
      <p:sp>
        <p:nvSpPr>
          <p:cNvPr id="6" name="Rounded Rectangle 5"/>
          <p:cNvSpPr/>
          <p:nvPr/>
        </p:nvSpPr>
        <p:spPr>
          <a:xfrm>
            <a:off x="7635240" y="1517904"/>
            <a:ext cx="3840480" cy="4480560"/>
          </a:xfrm>
          <a:prstGeom prst="roundRect">
            <a:avLst/>
          </a:prstGeom>
          <a:solidFill>
            <a:srgbClr val="FFFFFF"/>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792224"/>
            <a:ext cx="32004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BUILT-IN CARE PLAN LANGUAGES</a:t>
            </a:r>
          </a:p>
        </p:txBody>
      </p:sp>
      <p:sp>
        <p:nvSpPr>
          <p:cNvPr id="8" name="Rounded Rectangle 7"/>
          <p:cNvSpPr/>
          <p:nvPr/>
        </p:nvSpPr>
        <p:spPr>
          <a:xfrm>
            <a:off x="7891271" y="2359152"/>
            <a:ext cx="3328416" cy="566928"/>
          </a:xfrm>
          <a:prstGeom prst="roundRect">
            <a:avLst/>
          </a:prstGeom>
          <a:solidFill>
            <a:srgbClr val="DDF2EB"/>
          </a:solidFill>
          <a:ln w="12700">
            <a:solidFill>
              <a:srgbClr val="E0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19" y="2459736"/>
            <a:ext cx="365760" cy="365760"/>
          </a:xfrm>
          <a:prstGeom prst="round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9" y="2487168"/>
            <a:ext cx="365760" cy="246888"/>
          </a:xfrm>
          <a:prstGeom prst="rect">
            <a:avLst/>
          </a:prstGeom>
          <a:noFill/>
        </p:spPr>
        <p:txBody>
          <a:bodyPr wrap="square" lIns="0" rIns="0" tIns="0" bIns="0" anchor="ctr">
            <a:spAutoFit/>
          </a:bodyPr>
          <a:lstStyle/>
          <a:p>
            <a:pPr algn="ctr">
              <a:spcBef>
                <a:spcPts val="0"/>
              </a:spcBef>
              <a:spcAft>
                <a:spcPts val="0"/>
              </a:spcAft>
            </a:pPr>
            <a:r>
              <a:rPr sz="900" b="1">
                <a:solidFill>
                  <a:srgbClr val="FFFFFF"/>
                </a:solidFill>
                <a:latin typeface="Aptos"/>
              </a:rPr>
              <a:t>EN</a:t>
            </a:r>
          </a:p>
        </p:txBody>
      </p:sp>
      <p:sp>
        <p:nvSpPr>
          <p:cNvPr id="11" name="TextBox 10"/>
          <p:cNvSpPr txBox="1"/>
          <p:nvPr/>
        </p:nvSpPr>
        <p:spPr>
          <a:xfrm>
            <a:off x="8549640" y="2478024"/>
            <a:ext cx="2286000" cy="274320"/>
          </a:xfrm>
          <a:prstGeom prst="rect">
            <a:avLst/>
          </a:prstGeom>
          <a:noFill/>
        </p:spPr>
        <p:txBody>
          <a:bodyPr wrap="square" lIns="0" rIns="0" tIns="0" bIns="0" anchor="ctr">
            <a:spAutoFit/>
          </a:bodyPr>
          <a:lstStyle/>
          <a:p>
            <a:pPr algn="l">
              <a:spcBef>
                <a:spcPts val="0"/>
              </a:spcBef>
              <a:spcAft>
                <a:spcPts val="0"/>
              </a:spcAft>
            </a:pPr>
            <a:r>
              <a:rPr sz="1200" b="1">
                <a:solidFill>
                  <a:srgbClr val="213E45"/>
                </a:solidFill>
                <a:latin typeface="Aptos"/>
              </a:rPr>
              <a:t>English</a:t>
            </a:r>
          </a:p>
        </p:txBody>
      </p:sp>
      <p:sp>
        <p:nvSpPr>
          <p:cNvPr id="12" name="Rounded Rectangle 11"/>
          <p:cNvSpPr/>
          <p:nvPr/>
        </p:nvSpPr>
        <p:spPr>
          <a:xfrm>
            <a:off x="7891271" y="3090672"/>
            <a:ext cx="3328416" cy="566928"/>
          </a:xfrm>
          <a:prstGeom prst="roundRect">
            <a:avLst/>
          </a:prstGeom>
          <a:solidFill>
            <a:srgbClr val="F8FAF9"/>
          </a:solidFill>
          <a:ln w="12700">
            <a:solidFill>
              <a:srgbClr val="E0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19" y="3191256"/>
            <a:ext cx="365760" cy="365760"/>
          </a:xfrm>
          <a:prstGeom prst="roundRect">
            <a:avLst/>
          </a:prstGeom>
          <a:solidFill>
            <a:srgbClr val="EA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9" y="3218688"/>
            <a:ext cx="365760" cy="246888"/>
          </a:xfrm>
          <a:prstGeom prst="rect">
            <a:avLst/>
          </a:prstGeom>
          <a:noFill/>
        </p:spPr>
        <p:txBody>
          <a:bodyPr wrap="square" lIns="0" rIns="0" tIns="0" bIns="0" anchor="ctr">
            <a:spAutoFit/>
          </a:bodyPr>
          <a:lstStyle/>
          <a:p>
            <a:pPr algn="ctr">
              <a:spcBef>
                <a:spcPts val="0"/>
              </a:spcBef>
              <a:spcAft>
                <a:spcPts val="0"/>
              </a:spcAft>
            </a:pPr>
            <a:r>
              <a:rPr sz="900" b="1">
                <a:solidFill>
                  <a:srgbClr val="386784"/>
                </a:solidFill>
                <a:latin typeface="Aptos"/>
              </a:rPr>
              <a:t>ES</a:t>
            </a:r>
          </a:p>
        </p:txBody>
      </p:sp>
      <p:sp>
        <p:nvSpPr>
          <p:cNvPr id="15" name="TextBox 14"/>
          <p:cNvSpPr txBox="1"/>
          <p:nvPr/>
        </p:nvSpPr>
        <p:spPr>
          <a:xfrm>
            <a:off x="8549640" y="3209544"/>
            <a:ext cx="2286000" cy="274320"/>
          </a:xfrm>
          <a:prstGeom prst="rect">
            <a:avLst/>
          </a:prstGeom>
          <a:noFill/>
        </p:spPr>
        <p:txBody>
          <a:bodyPr wrap="square" lIns="0" rIns="0" tIns="0" bIns="0" anchor="ctr">
            <a:spAutoFit/>
          </a:bodyPr>
          <a:lstStyle/>
          <a:p>
            <a:pPr algn="l">
              <a:spcBef>
                <a:spcPts val="0"/>
              </a:spcBef>
              <a:spcAft>
                <a:spcPts val="0"/>
              </a:spcAft>
            </a:pPr>
            <a:r>
              <a:rPr sz="1200" b="1">
                <a:solidFill>
                  <a:srgbClr val="213E45"/>
                </a:solidFill>
                <a:latin typeface="Aptos"/>
              </a:rPr>
              <a:t>Español</a:t>
            </a:r>
          </a:p>
        </p:txBody>
      </p:sp>
      <p:sp>
        <p:nvSpPr>
          <p:cNvPr id="16" name="Rounded Rectangle 15"/>
          <p:cNvSpPr/>
          <p:nvPr/>
        </p:nvSpPr>
        <p:spPr>
          <a:xfrm>
            <a:off x="7891271" y="3822191"/>
            <a:ext cx="3328416" cy="566928"/>
          </a:xfrm>
          <a:prstGeom prst="roundRect">
            <a:avLst/>
          </a:prstGeom>
          <a:solidFill>
            <a:srgbClr val="F8FAF9"/>
          </a:solidFill>
          <a:ln w="12700">
            <a:solidFill>
              <a:srgbClr val="E0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46719" y="3922776"/>
            <a:ext cx="365760" cy="365760"/>
          </a:xfrm>
          <a:prstGeom prst="roundRect">
            <a:avLst/>
          </a:prstGeom>
          <a:solidFill>
            <a:srgbClr val="EA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9" y="3950207"/>
            <a:ext cx="365760" cy="246888"/>
          </a:xfrm>
          <a:prstGeom prst="rect">
            <a:avLst/>
          </a:prstGeom>
          <a:noFill/>
        </p:spPr>
        <p:txBody>
          <a:bodyPr wrap="square" lIns="0" rIns="0" tIns="0" bIns="0" anchor="ctr">
            <a:spAutoFit/>
          </a:bodyPr>
          <a:lstStyle/>
          <a:p>
            <a:pPr algn="ctr">
              <a:spcBef>
                <a:spcPts val="0"/>
              </a:spcBef>
              <a:spcAft>
                <a:spcPts val="0"/>
              </a:spcAft>
            </a:pPr>
            <a:r>
              <a:rPr sz="900" b="1">
                <a:solidFill>
                  <a:srgbClr val="386784"/>
                </a:solidFill>
                <a:latin typeface="Aptos"/>
              </a:rPr>
              <a:t>हि</a:t>
            </a:r>
          </a:p>
        </p:txBody>
      </p:sp>
      <p:sp>
        <p:nvSpPr>
          <p:cNvPr id="19" name="TextBox 18"/>
          <p:cNvSpPr txBox="1"/>
          <p:nvPr/>
        </p:nvSpPr>
        <p:spPr>
          <a:xfrm>
            <a:off x="8549640" y="3941063"/>
            <a:ext cx="2286000" cy="274320"/>
          </a:xfrm>
          <a:prstGeom prst="rect">
            <a:avLst/>
          </a:prstGeom>
          <a:noFill/>
        </p:spPr>
        <p:txBody>
          <a:bodyPr wrap="square" lIns="0" rIns="0" tIns="0" bIns="0" anchor="ctr">
            <a:spAutoFit/>
          </a:bodyPr>
          <a:lstStyle/>
          <a:p>
            <a:pPr algn="l">
              <a:spcBef>
                <a:spcPts val="0"/>
              </a:spcBef>
              <a:spcAft>
                <a:spcPts val="0"/>
              </a:spcAft>
            </a:pPr>
            <a:r>
              <a:rPr sz="1200" b="1">
                <a:solidFill>
                  <a:srgbClr val="213E45"/>
                </a:solidFill>
                <a:latin typeface="Aptos"/>
              </a:rPr>
              <a:t>हिन्दी</a:t>
            </a:r>
          </a:p>
        </p:txBody>
      </p:sp>
      <p:sp>
        <p:nvSpPr>
          <p:cNvPr id="20" name="Rounded Rectangle 19"/>
          <p:cNvSpPr/>
          <p:nvPr/>
        </p:nvSpPr>
        <p:spPr>
          <a:xfrm>
            <a:off x="7891271" y="4764024"/>
            <a:ext cx="3328416" cy="822960"/>
          </a:xfrm>
          <a:prstGeom prst="roundRect">
            <a:avLst/>
          </a:prstGeom>
          <a:solidFill>
            <a:srgbClr val="F6FAF8"/>
          </a:solidFill>
          <a:ln w="12700">
            <a:solidFill>
              <a:srgbClr val="E0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901184"/>
            <a:ext cx="2834640" cy="502920"/>
          </a:xfrm>
          <a:prstGeom prst="rect">
            <a:avLst/>
          </a:prstGeom>
          <a:noFill/>
        </p:spPr>
        <p:txBody>
          <a:bodyPr wrap="square" lIns="0" rIns="0" tIns="0" bIns="0" anchor="ctr">
            <a:spAutoFit/>
          </a:bodyPr>
          <a:lstStyle/>
          <a:p>
            <a:pPr algn="l">
              <a:spcBef>
                <a:spcPts val="0"/>
              </a:spcBef>
              <a:spcAft>
                <a:spcPts val="0"/>
              </a:spcAft>
            </a:pPr>
            <a:r>
              <a:rPr sz="1100" b="0">
                <a:solidFill>
                  <a:srgbClr val="667D7C"/>
                </a:solidFill>
                <a:latin typeface="Aptos"/>
              </a:rPr>
              <a:t>Read the transcript.
Play, pause, or stop.</a:t>
            </a:r>
          </a:p>
        </p:txBody>
      </p:sp>
      <p:sp>
        <p:nvSpPr>
          <p:cNvPr id="22" name="TextBox 21"/>
          <p:cNvSpPr txBox="1"/>
          <p:nvPr/>
        </p:nvSpPr>
        <p:spPr>
          <a:xfrm>
            <a:off x="7909560" y="5742432"/>
            <a:ext cx="3291840" cy="201168"/>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Voice availability depends on the device.</a:t>
            </a:r>
          </a:p>
        </p:txBody>
      </p:sp>
      <p:sp>
        <p:nvSpPr>
          <p:cNvPr id="23" name="Rectangle 22"/>
          <p:cNvSpPr/>
          <p:nvPr/>
        </p:nvSpPr>
        <p:spPr>
          <a:xfrm>
            <a:off x="758952" y="5422392"/>
            <a:ext cx="6263640" cy="9144"/>
          </a:xfrm>
          <a:prstGeom prst="rect">
            <a:avLst/>
          </a:prstGeom>
          <a:solidFill>
            <a:srgbClr val="DD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5605272"/>
            <a:ext cx="6217920" cy="256032"/>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ClearCare  ·  Synthetic demo  ·  Not medical advice</a:t>
            </a:r>
          </a:p>
        </p:txBody>
      </p:sp>
      <p:sp>
        <p:nvSpPr>
          <p:cNvPr id="25" name="TextBox 24"/>
          <p:cNvSpPr txBox="1"/>
          <p:nvPr/>
        </p:nvSpPr>
        <p:spPr>
          <a:xfrm>
            <a:off x="10835640" y="6327648"/>
            <a:ext cx="822960" cy="210312"/>
          </a:xfrm>
          <a:prstGeom prst="rect">
            <a:avLst/>
          </a:prstGeom>
          <a:noFill/>
        </p:spPr>
        <p:txBody>
          <a:bodyPr wrap="square" lIns="0" rIns="0" tIns="0" bIns="0" anchor="ctr">
            <a:spAutoFit/>
          </a:bodyPr>
          <a:lstStyle/>
          <a:p>
            <a:pPr algn="r">
              <a:spcBef>
                <a:spcPts val="0"/>
              </a:spcBef>
              <a:spcAft>
                <a:spcPts val="0"/>
              </a:spcAft>
            </a:pPr>
            <a:r>
              <a:rPr sz="800" b="1">
                <a:solidFill>
                  <a:srgbClr val="667D7C"/>
                </a:solidFill>
                <a:latin typeface="Aptos"/>
              </a:rPr>
              <a:t>06 / 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6"/>
        </a:solidFill>
        <a:effectLst/>
      </p:bgPr>
    </p:bg>
    <p:spTree>
      <p:nvGrpSpPr>
        <p:cNvPr id="1" name=""/>
        <p:cNvGrpSpPr/>
        <p:nvPr/>
      </p:nvGrpSpPr>
      <p:grpSpPr/>
      <p:sp>
        <p:nvSpPr>
          <p:cNvPr id="2" name="Rectangle 1"/>
          <p:cNvSpPr/>
          <p:nvPr/>
        </p:nvSpPr>
        <p:spPr>
          <a:xfrm>
            <a:off x="502920" y="429768"/>
            <a:ext cx="100584" cy="329184"/>
          </a:xfrm>
          <a:prstGeom prst="rect">
            <a:avLst/>
          </a:prstGeom>
          <a:solidFill>
            <a:srgbClr val="2E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457200"/>
            <a:ext cx="64008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07  ·  HOW AMD FITS</a:t>
            </a:r>
          </a:p>
        </p:txBody>
      </p:sp>
      <p:sp>
        <p:nvSpPr>
          <p:cNvPr id="4" name="TextBox 3"/>
          <p:cNvSpPr txBox="1"/>
          <p:nvPr/>
        </p:nvSpPr>
        <p:spPr>
          <a:xfrm>
            <a:off x="758952" y="859536"/>
            <a:ext cx="6446520" cy="960120"/>
          </a:xfrm>
          <a:prstGeom prst="rect">
            <a:avLst/>
          </a:prstGeom>
          <a:noFill/>
        </p:spPr>
        <p:txBody>
          <a:bodyPr wrap="square" lIns="0" rIns="0" tIns="0" bIns="0" anchor="ctr">
            <a:spAutoFit/>
          </a:bodyPr>
          <a:lstStyle/>
          <a:p>
            <a:pPr algn="l">
              <a:spcBef>
                <a:spcPts val="0"/>
              </a:spcBef>
              <a:spcAft>
                <a:spcPts val="0"/>
              </a:spcAft>
            </a:pPr>
            <a:r>
              <a:rPr sz="2700" b="1">
                <a:solidFill>
                  <a:srgbClr val="213E45"/>
                </a:solidFill>
                <a:latin typeface="Aptos"/>
              </a:rPr>
              <a:t>AI that knows its limits.</a:t>
            </a:r>
          </a:p>
        </p:txBody>
      </p:sp>
      <p:sp>
        <p:nvSpPr>
          <p:cNvPr id="5" name="TextBox 4"/>
          <p:cNvSpPr txBox="1"/>
          <p:nvPr/>
        </p:nvSpPr>
        <p:spPr>
          <a:xfrm>
            <a:off x="758952" y="1993392"/>
            <a:ext cx="6172200" cy="1508760"/>
          </a:xfrm>
          <a:prstGeom prst="rect">
            <a:avLst/>
          </a:prstGeom>
          <a:noFill/>
        </p:spPr>
        <p:txBody>
          <a:bodyPr wrap="square" lIns="0" rIns="0" tIns="0" bIns="0" anchor="t">
            <a:spAutoFit/>
          </a:bodyPr>
          <a:lstStyle/>
          <a:p>
            <a:pPr algn="l">
              <a:spcBef>
                <a:spcPts val="0"/>
              </a:spcBef>
              <a:spcAft>
                <a:spcPts val="0"/>
              </a:spcAft>
            </a:pPr>
            <a:r>
              <a:rPr sz="1400" b="0">
                <a:solidFill>
                  <a:srgbClr val="667D7C"/>
                </a:solidFill>
                <a:latin typeface="Aptos"/>
              </a:rPr>
              <a:t>AMD Token Factory is a hosted API integration. The API key stays on the backend. ClearCare does not use ROCm or run the model on the patient’s device.</a:t>
            </a:r>
          </a:p>
        </p:txBody>
      </p:sp>
      <p:sp>
        <p:nvSpPr>
          <p:cNvPr id="6" name="Rounded Rectangle 5"/>
          <p:cNvSpPr/>
          <p:nvPr/>
        </p:nvSpPr>
        <p:spPr>
          <a:xfrm>
            <a:off x="7635240" y="1517904"/>
            <a:ext cx="3840480" cy="4480560"/>
          </a:xfrm>
          <a:prstGeom prst="roundRect">
            <a:avLst/>
          </a:prstGeom>
          <a:solidFill>
            <a:srgbClr val="FFFFFF"/>
          </a:solidFill>
          <a:ln w="12700">
            <a:solidFill>
              <a:srgbClr val="DDE9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792224"/>
            <a:ext cx="2743200" cy="219456"/>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THE REQUEST PATH</a:t>
            </a:r>
          </a:p>
        </p:txBody>
      </p:sp>
      <p:sp>
        <p:nvSpPr>
          <p:cNvPr id="8" name="Rounded Rectangle 7"/>
          <p:cNvSpPr/>
          <p:nvPr/>
        </p:nvSpPr>
        <p:spPr>
          <a:xfrm>
            <a:off x="7909560" y="2176272"/>
            <a:ext cx="3291840" cy="658368"/>
          </a:xfrm>
          <a:prstGeom prst="roundRect">
            <a:avLst/>
          </a:prstGeom>
          <a:solidFill>
            <a:srgbClr val="F6FAF8"/>
          </a:solidFill>
          <a:ln w="12700">
            <a:solidFill>
              <a:srgbClr val="E0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74152" y="2331720"/>
            <a:ext cx="365760" cy="237744"/>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01</a:t>
            </a:r>
          </a:p>
        </p:txBody>
      </p:sp>
      <p:sp>
        <p:nvSpPr>
          <p:cNvPr id="10" name="TextBox 9"/>
          <p:cNvSpPr txBox="1"/>
          <p:nvPr/>
        </p:nvSpPr>
        <p:spPr>
          <a:xfrm>
            <a:off x="8567928" y="2258568"/>
            <a:ext cx="2331720" cy="246888"/>
          </a:xfrm>
          <a:prstGeom prst="rect">
            <a:avLst/>
          </a:prstGeom>
          <a:noFill/>
        </p:spPr>
        <p:txBody>
          <a:bodyPr wrap="square" lIns="0" rIns="0" tIns="0" bIns="0" anchor="ctr">
            <a:spAutoFit/>
          </a:bodyPr>
          <a:lstStyle/>
          <a:p>
            <a:pPr algn="l">
              <a:spcBef>
                <a:spcPts val="0"/>
              </a:spcBef>
              <a:spcAft>
                <a:spcPts val="0"/>
              </a:spcAft>
            </a:pPr>
            <a:r>
              <a:rPr sz="1100" b="1">
                <a:solidFill>
                  <a:srgbClr val="213E45"/>
                </a:solidFill>
                <a:latin typeface="Aptos"/>
              </a:rPr>
              <a:t>Patient chooses</a:t>
            </a:r>
          </a:p>
        </p:txBody>
      </p:sp>
      <p:sp>
        <p:nvSpPr>
          <p:cNvPr id="11" name="TextBox 10"/>
          <p:cNvSpPr txBox="1"/>
          <p:nvPr/>
        </p:nvSpPr>
        <p:spPr>
          <a:xfrm>
            <a:off x="8567928" y="2532888"/>
            <a:ext cx="2331720" cy="201168"/>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one explanation</a:t>
            </a:r>
          </a:p>
        </p:txBody>
      </p:sp>
      <p:sp>
        <p:nvSpPr>
          <p:cNvPr id="12" name="Rounded Rectangle 11"/>
          <p:cNvSpPr/>
          <p:nvPr/>
        </p:nvSpPr>
        <p:spPr>
          <a:xfrm>
            <a:off x="7909560" y="3008376"/>
            <a:ext cx="3291840" cy="658368"/>
          </a:xfrm>
          <a:prstGeom prst="roundRect">
            <a:avLst/>
          </a:prstGeom>
          <a:solidFill>
            <a:srgbClr val="F6FAF8"/>
          </a:solidFill>
          <a:ln w="12700">
            <a:solidFill>
              <a:srgbClr val="E0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74152" y="3163824"/>
            <a:ext cx="365760" cy="237744"/>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02</a:t>
            </a:r>
          </a:p>
        </p:txBody>
      </p:sp>
      <p:sp>
        <p:nvSpPr>
          <p:cNvPr id="14" name="TextBox 13"/>
          <p:cNvSpPr txBox="1"/>
          <p:nvPr/>
        </p:nvSpPr>
        <p:spPr>
          <a:xfrm>
            <a:off x="8567928" y="3090672"/>
            <a:ext cx="2331720" cy="246888"/>
          </a:xfrm>
          <a:prstGeom prst="rect">
            <a:avLst/>
          </a:prstGeom>
          <a:noFill/>
        </p:spPr>
        <p:txBody>
          <a:bodyPr wrap="square" lIns="0" rIns="0" tIns="0" bIns="0" anchor="ctr">
            <a:spAutoFit/>
          </a:bodyPr>
          <a:lstStyle/>
          <a:p>
            <a:pPr algn="l">
              <a:spcBef>
                <a:spcPts val="0"/>
              </a:spcBef>
              <a:spcAft>
                <a:spcPts val="0"/>
              </a:spcAft>
            </a:pPr>
            <a:r>
              <a:rPr sz="1100" b="1">
                <a:solidFill>
                  <a:srgbClr val="213E45"/>
                </a:solidFill>
                <a:latin typeface="Aptos"/>
              </a:rPr>
              <a:t>ClearCare backend</a:t>
            </a:r>
          </a:p>
        </p:txBody>
      </p:sp>
      <p:sp>
        <p:nvSpPr>
          <p:cNvPr id="15" name="TextBox 14"/>
          <p:cNvSpPr txBox="1"/>
          <p:nvPr/>
        </p:nvSpPr>
        <p:spPr>
          <a:xfrm>
            <a:off x="8567928" y="3364992"/>
            <a:ext cx="2331720" cy="201168"/>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holds the secret key</a:t>
            </a:r>
          </a:p>
        </p:txBody>
      </p:sp>
      <p:sp>
        <p:nvSpPr>
          <p:cNvPr id="16" name="Rounded Rectangle 15"/>
          <p:cNvSpPr/>
          <p:nvPr/>
        </p:nvSpPr>
        <p:spPr>
          <a:xfrm>
            <a:off x="7909560" y="3840480"/>
            <a:ext cx="3291840" cy="658368"/>
          </a:xfrm>
          <a:prstGeom prst="roundRect">
            <a:avLst/>
          </a:prstGeom>
          <a:solidFill>
            <a:srgbClr val="EAF2F7"/>
          </a:solidFill>
          <a:ln w="12700">
            <a:solidFill>
              <a:srgbClr val="E0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74152" y="3995928"/>
            <a:ext cx="365760" cy="237744"/>
          </a:xfrm>
          <a:prstGeom prst="rect">
            <a:avLst/>
          </a:prstGeom>
          <a:noFill/>
        </p:spPr>
        <p:txBody>
          <a:bodyPr wrap="square" lIns="0" rIns="0" tIns="0" bIns="0" anchor="ctr">
            <a:spAutoFit/>
          </a:bodyPr>
          <a:lstStyle/>
          <a:p>
            <a:pPr algn="l">
              <a:spcBef>
                <a:spcPts val="0"/>
              </a:spcBef>
              <a:spcAft>
                <a:spcPts val="0"/>
              </a:spcAft>
            </a:pPr>
            <a:r>
              <a:rPr sz="900" b="1">
                <a:solidFill>
                  <a:srgbClr val="386784"/>
                </a:solidFill>
                <a:latin typeface="Aptos"/>
              </a:rPr>
              <a:t>03</a:t>
            </a:r>
          </a:p>
        </p:txBody>
      </p:sp>
      <p:sp>
        <p:nvSpPr>
          <p:cNvPr id="18" name="TextBox 17"/>
          <p:cNvSpPr txBox="1"/>
          <p:nvPr/>
        </p:nvSpPr>
        <p:spPr>
          <a:xfrm>
            <a:off x="8567928" y="3922776"/>
            <a:ext cx="2331720" cy="246888"/>
          </a:xfrm>
          <a:prstGeom prst="rect">
            <a:avLst/>
          </a:prstGeom>
          <a:noFill/>
        </p:spPr>
        <p:txBody>
          <a:bodyPr wrap="square" lIns="0" rIns="0" tIns="0" bIns="0" anchor="ctr">
            <a:spAutoFit/>
          </a:bodyPr>
          <a:lstStyle/>
          <a:p>
            <a:pPr algn="l">
              <a:spcBef>
                <a:spcPts val="0"/>
              </a:spcBef>
              <a:spcAft>
                <a:spcPts val="0"/>
              </a:spcAft>
            </a:pPr>
            <a:r>
              <a:rPr sz="1100" b="1">
                <a:solidFill>
                  <a:srgbClr val="213E45"/>
                </a:solidFill>
                <a:latin typeface="Aptos"/>
              </a:rPr>
              <a:t>AMD Token Factory</a:t>
            </a:r>
          </a:p>
        </p:txBody>
      </p:sp>
      <p:sp>
        <p:nvSpPr>
          <p:cNvPr id="19" name="TextBox 18"/>
          <p:cNvSpPr txBox="1"/>
          <p:nvPr/>
        </p:nvSpPr>
        <p:spPr>
          <a:xfrm>
            <a:off x="8567928" y="4197096"/>
            <a:ext cx="2331720" cy="201168"/>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DeepSeek-V4-Flash</a:t>
            </a:r>
          </a:p>
        </p:txBody>
      </p:sp>
      <p:sp>
        <p:nvSpPr>
          <p:cNvPr id="20" name="Rounded Rectangle 19"/>
          <p:cNvSpPr/>
          <p:nvPr/>
        </p:nvSpPr>
        <p:spPr>
          <a:xfrm>
            <a:off x="7909560" y="4672583"/>
            <a:ext cx="3291840" cy="658368"/>
          </a:xfrm>
          <a:prstGeom prst="roundRect">
            <a:avLst/>
          </a:prstGeom>
          <a:solidFill>
            <a:srgbClr val="F6FAF8"/>
          </a:solidFill>
          <a:ln w="12700">
            <a:solidFill>
              <a:srgbClr val="E0E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4152" y="4828031"/>
            <a:ext cx="365760" cy="237744"/>
          </a:xfrm>
          <a:prstGeom prst="rect">
            <a:avLst/>
          </a:prstGeom>
          <a:noFill/>
        </p:spPr>
        <p:txBody>
          <a:bodyPr wrap="square" lIns="0" rIns="0" tIns="0" bIns="0" anchor="ctr">
            <a:spAutoFit/>
          </a:bodyPr>
          <a:lstStyle/>
          <a:p>
            <a:pPr algn="l">
              <a:spcBef>
                <a:spcPts val="0"/>
              </a:spcBef>
              <a:spcAft>
                <a:spcPts val="0"/>
              </a:spcAft>
            </a:pPr>
            <a:r>
              <a:rPr sz="900" b="1">
                <a:solidFill>
                  <a:srgbClr val="2E7C72"/>
                </a:solidFill>
                <a:latin typeface="Aptos"/>
              </a:rPr>
              <a:t>04</a:t>
            </a:r>
          </a:p>
        </p:txBody>
      </p:sp>
      <p:sp>
        <p:nvSpPr>
          <p:cNvPr id="22" name="TextBox 21"/>
          <p:cNvSpPr txBox="1"/>
          <p:nvPr/>
        </p:nvSpPr>
        <p:spPr>
          <a:xfrm>
            <a:off x="8567928" y="4754879"/>
            <a:ext cx="2331720" cy="246888"/>
          </a:xfrm>
          <a:prstGeom prst="rect">
            <a:avLst/>
          </a:prstGeom>
          <a:noFill/>
        </p:spPr>
        <p:txBody>
          <a:bodyPr wrap="square" lIns="0" rIns="0" tIns="0" bIns="0" anchor="ctr">
            <a:spAutoFit/>
          </a:bodyPr>
          <a:lstStyle/>
          <a:p>
            <a:pPr algn="l">
              <a:spcBef>
                <a:spcPts val="0"/>
              </a:spcBef>
              <a:spcAft>
                <a:spcPts val="0"/>
              </a:spcAft>
            </a:pPr>
            <a:r>
              <a:rPr sz="1100" b="1">
                <a:solidFill>
                  <a:srgbClr val="213E45"/>
                </a:solidFill>
                <a:latin typeface="Aptos"/>
              </a:rPr>
              <a:t>Verified result</a:t>
            </a:r>
          </a:p>
        </p:txBody>
      </p:sp>
      <p:sp>
        <p:nvSpPr>
          <p:cNvPr id="23" name="TextBox 22"/>
          <p:cNvSpPr txBox="1"/>
          <p:nvPr/>
        </p:nvSpPr>
        <p:spPr>
          <a:xfrm>
            <a:off x="8567928" y="5029199"/>
            <a:ext cx="2331720" cy="201168"/>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shown with source</a:t>
            </a:r>
          </a:p>
        </p:txBody>
      </p:sp>
      <p:sp>
        <p:nvSpPr>
          <p:cNvPr id="24" name="TextBox 23"/>
          <p:cNvSpPr txBox="1"/>
          <p:nvPr/>
        </p:nvSpPr>
        <p:spPr>
          <a:xfrm>
            <a:off x="8001000" y="5650992"/>
            <a:ext cx="3200400" cy="256032"/>
          </a:xfrm>
          <a:prstGeom prst="rect">
            <a:avLst/>
          </a:prstGeom>
          <a:noFill/>
        </p:spPr>
        <p:txBody>
          <a:bodyPr wrap="square" lIns="0" rIns="0" tIns="0" bIns="0" anchor="ctr">
            <a:spAutoFit/>
          </a:bodyPr>
          <a:lstStyle/>
          <a:p>
            <a:pPr algn="ctr">
              <a:spcBef>
                <a:spcPts val="0"/>
              </a:spcBef>
              <a:spcAft>
                <a:spcPts val="0"/>
              </a:spcAft>
            </a:pPr>
            <a:r>
              <a:rPr sz="900" b="1">
                <a:solidFill>
                  <a:srgbClr val="386784"/>
                </a:solidFill>
                <a:latin typeface="Aptos"/>
              </a:rPr>
              <a:t>Not ROCm · no local model runtime</a:t>
            </a:r>
          </a:p>
        </p:txBody>
      </p:sp>
      <p:sp>
        <p:nvSpPr>
          <p:cNvPr id="25" name="Rectangle 24"/>
          <p:cNvSpPr/>
          <p:nvPr/>
        </p:nvSpPr>
        <p:spPr>
          <a:xfrm>
            <a:off x="758952" y="5422392"/>
            <a:ext cx="6263640" cy="9144"/>
          </a:xfrm>
          <a:prstGeom prst="rect">
            <a:avLst/>
          </a:prstGeom>
          <a:solidFill>
            <a:srgbClr val="DDE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5605272"/>
            <a:ext cx="6217920" cy="256032"/>
          </a:xfrm>
          <a:prstGeom prst="rect">
            <a:avLst/>
          </a:prstGeom>
          <a:noFill/>
        </p:spPr>
        <p:txBody>
          <a:bodyPr wrap="square" lIns="0" rIns="0" tIns="0" bIns="0" anchor="ctr">
            <a:spAutoFit/>
          </a:bodyPr>
          <a:lstStyle/>
          <a:p>
            <a:pPr algn="l">
              <a:spcBef>
                <a:spcPts val="0"/>
              </a:spcBef>
              <a:spcAft>
                <a:spcPts val="0"/>
              </a:spcAft>
            </a:pPr>
            <a:r>
              <a:rPr sz="800" b="0">
                <a:solidFill>
                  <a:srgbClr val="667D7C"/>
                </a:solidFill>
                <a:latin typeface="Aptos"/>
              </a:rPr>
              <a:t>ClearCare  ·  Synthetic demo  ·  Not medical advice</a:t>
            </a:r>
          </a:p>
        </p:txBody>
      </p:sp>
      <p:sp>
        <p:nvSpPr>
          <p:cNvPr id="27" name="TextBox 26"/>
          <p:cNvSpPr txBox="1"/>
          <p:nvPr/>
        </p:nvSpPr>
        <p:spPr>
          <a:xfrm>
            <a:off x="10835640" y="6327648"/>
            <a:ext cx="822960" cy="210312"/>
          </a:xfrm>
          <a:prstGeom prst="rect">
            <a:avLst/>
          </a:prstGeom>
          <a:noFill/>
        </p:spPr>
        <p:txBody>
          <a:bodyPr wrap="square" lIns="0" rIns="0" tIns="0" bIns="0" anchor="ctr">
            <a:spAutoFit/>
          </a:bodyPr>
          <a:lstStyle/>
          <a:p>
            <a:pPr algn="r">
              <a:spcBef>
                <a:spcPts val="0"/>
              </a:spcBef>
              <a:spcAft>
                <a:spcPts val="0"/>
              </a:spcAft>
            </a:pPr>
            <a:r>
              <a:rPr sz="800" b="1">
                <a:solidFill>
                  <a:srgbClr val="667D7C"/>
                </a:solidFill>
                <a:latin typeface="Aptos"/>
              </a:rPr>
              <a:t>07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293C"/>
        </a:solidFill>
        <a:effectLst/>
      </p:bgPr>
    </p:bg>
    <p:spTree>
      <p:nvGrpSpPr>
        <p:cNvPr id="1" name=""/>
        <p:cNvGrpSpPr/>
        <p:nvPr/>
      </p:nvGrpSpPr>
      <p:grpSpPr/>
      <p:pic>
        <p:nvPicPr>
          <p:cNvPr id="2" name="Picture 1" descr="cover.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02920" y="6309360"/>
            <a:ext cx="5760720" cy="329184"/>
          </a:xfrm>
          <a:prstGeom prst="roundRect">
            <a:avLst/>
          </a:prstGeom>
          <a:solidFill>
            <a:srgbClr val="092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67512" y="6364224"/>
            <a:ext cx="5394960" cy="192024"/>
          </a:xfrm>
          <a:prstGeom prst="rect">
            <a:avLst/>
          </a:prstGeom>
          <a:noFill/>
        </p:spPr>
        <p:txBody>
          <a:bodyPr wrap="square" lIns="0" rIns="0" tIns="0" bIns="0" anchor="ctr">
            <a:spAutoFit/>
          </a:bodyPr>
          <a:lstStyle/>
          <a:p>
            <a:pPr algn="l">
              <a:spcBef>
                <a:spcPts val="0"/>
              </a:spcBef>
              <a:spcAft>
                <a:spcPts val="0"/>
              </a:spcAft>
            </a:pPr>
            <a:r>
              <a:rPr sz="800" b="1">
                <a:solidFill>
                  <a:srgbClr val="B5C9C8"/>
                </a:solidFill>
                <a:latin typeface="Aptos"/>
              </a:rPr>
              <a:t>CLEARCARE · SYNTHETIC PROTOTYPE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