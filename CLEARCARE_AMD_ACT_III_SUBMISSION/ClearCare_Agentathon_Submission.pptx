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22adc4ccb548dd" /><Relationship Type="http://schemas.openxmlformats.org/officeDocument/2006/relationships/extended-properties" Target="/docProps/app.xml" Id="Ra1110adb03d24797" /><Relationship Type="http://schemas.openxmlformats.org/officeDocument/2006/relationships/officeDocument" Target="/ppt/presentation.xml" Id="R7756c9c930084b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7d6e7522514d2e"/>
  </p:sldMasterIdLst>
  <p:notesMasterIdLst>
    <p:notesMasterId xmlns:r="http://schemas.openxmlformats.org/officeDocument/2006/relationships" r:id="Raa4a52fd279a428a"/>
  </p:notesMasterIdLst>
  <p:sldIdLst>
    <p:sldId xmlns:r="http://schemas.openxmlformats.org/officeDocument/2006/relationships" id="256" r:id="R0d7c59d439344821"/>
    <p:sldId xmlns:r="http://schemas.openxmlformats.org/officeDocument/2006/relationships" id="257" r:id="R698e1d466e6e4b3a"/>
    <p:sldId xmlns:r="http://schemas.openxmlformats.org/officeDocument/2006/relationships" id="258" r:id="R03d7c7e28f9d42b5"/>
    <p:sldId xmlns:r="http://schemas.openxmlformats.org/officeDocument/2006/relationships" id="259" r:id="R9040966ce6f14660"/>
    <p:sldId xmlns:r="http://schemas.openxmlformats.org/officeDocument/2006/relationships" id="260" r:id="R467877eec54046f1"/>
    <p:sldId xmlns:r="http://schemas.openxmlformats.org/officeDocument/2006/relationships" id="261" r:id="R10b7b1ec73af40d7"/>
    <p:sldId xmlns:r="http://schemas.openxmlformats.org/officeDocument/2006/relationships" id="262" r:id="Ra7ac8606e78f4182"/>
    <p:sldId xmlns:r="http://schemas.openxmlformats.org/officeDocument/2006/relationships" id="263" r:id="R4c6290d3b9d840bb"/>
    <p:sldId xmlns:r="http://schemas.openxmlformats.org/officeDocument/2006/relationships" id="264" r:id="R28127117b5fa4e76"/>
    <p:sldId xmlns:r="http://schemas.openxmlformats.org/officeDocument/2006/relationships" id="265" r:id="R6d1369ce2c31425e"/>
  </p:sldIdLst>
  <p:sldSz cx="18288000" cy="10287000"/>
  <p:notesSz cx="6858000" cy="9144000"/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768026acf24257" /><Relationship Type="http://schemas.openxmlformats.org/officeDocument/2006/relationships/slideMaster" Target="/ppt/slideMasters/slideMaster1.xml" Id="Rfa7d6e7522514d2e" /><Relationship Type="http://schemas.openxmlformats.org/officeDocument/2006/relationships/notesMaster" Target="/ppt/notesMasters/notesMaster1.xml" Id="Raa4a52fd279a428a" /><Relationship Type="http://schemas.openxmlformats.org/officeDocument/2006/relationships/presProps" Target="/ppt/presProps.xml" Id="Ra526234581874e1c" /><Relationship Type="http://schemas.openxmlformats.org/officeDocument/2006/relationships/viewProps" Target="/ppt/viewProps.xml" Id="R25fe1121220a4e40" /><Relationship Type="http://schemas.openxmlformats.org/officeDocument/2006/relationships/tableStyles" Target="/ppt/tableStyles.xml" Id="R104649ff4c8c4363" /><Relationship Type="http://schemas.openxmlformats.org/officeDocument/2006/relationships/slide" Target="/ppt/slides/slide1.xml" Id="R0d7c59d439344821" /><Relationship Type="http://schemas.openxmlformats.org/officeDocument/2006/relationships/slide" Target="/ppt/slides/slide2.xml" Id="R698e1d466e6e4b3a" /><Relationship Type="http://schemas.openxmlformats.org/officeDocument/2006/relationships/slide" Target="/ppt/slides/slide3.xml" Id="R03d7c7e28f9d42b5" /><Relationship Type="http://schemas.openxmlformats.org/officeDocument/2006/relationships/slide" Target="/ppt/slides/slide4.xml" Id="R9040966ce6f14660" /><Relationship Type="http://schemas.openxmlformats.org/officeDocument/2006/relationships/slide" Target="/ppt/slides/slide5.xml" Id="R467877eec54046f1" /><Relationship Type="http://schemas.openxmlformats.org/officeDocument/2006/relationships/slide" Target="/ppt/slides/slide6.xml" Id="R10b7b1ec73af40d7" /><Relationship Type="http://schemas.openxmlformats.org/officeDocument/2006/relationships/slide" Target="/ppt/slides/slide7.xml" Id="Ra7ac8606e78f4182" /><Relationship Type="http://schemas.openxmlformats.org/officeDocument/2006/relationships/slide" Target="/ppt/slides/slide8.xml" Id="R4c6290d3b9d840bb" /><Relationship Type="http://schemas.openxmlformats.org/officeDocument/2006/relationships/slide" Target="/ppt/slides/slide9.xml" Id="R28127117b5fa4e76" /><Relationship Type="http://schemas.openxmlformats.org/officeDocument/2006/relationships/slide" Target="/ppt/slides/slide10.xml" Id="R6d1369ce2c3142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b3a55cd2a848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ED957"/>
      </a:hlink>
      <a:folHlink>
        <a:srgbClr val="7ED95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09c010b8b84a08" /><Relationship Type="http://schemas.openxmlformats.org/officeDocument/2006/relationships/notesMaster" Target="/ppt/notesMasters/notesMaster1.xml" Id="Rfc79c61c8234466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50a63f9bc74bb1" /><Relationship Type="http://schemas.openxmlformats.org/officeDocument/2006/relationships/notesMaster" Target="/ppt/notesMasters/notesMaster1.xml" Id="Rd19a4bee4dcf43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5d490b6bd134904" /><Relationship Type="http://schemas.openxmlformats.org/officeDocument/2006/relationships/notesMaster" Target="/ppt/notesMasters/notesMaster1.xml" Id="Ra4c616ddbfdf4c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d894edb98b4ca3" /><Relationship Type="http://schemas.openxmlformats.org/officeDocument/2006/relationships/notesMaster" Target="/ppt/notesMasters/notesMaster1.xml" Id="R3ec31a4761de40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2d16de332340ee" /><Relationship Type="http://schemas.openxmlformats.org/officeDocument/2006/relationships/notesMaster" Target="/ppt/notesMasters/notesMaster1.xml" Id="Rd71d63623b56440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92f40cec3f46a8" /><Relationship Type="http://schemas.openxmlformats.org/officeDocument/2006/relationships/notesMaster" Target="/ppt/notesMasters/notesMaster1.xml" Id="R2250520fdf3f42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9e49ad042e4a61" /><Relationship Type="http://schemas.openxmlformats.org/officeDocument/2006/relationships/notesMaster" Target="/ppt/notesMasters/notesMaster1.xml" Id="R0929fb5b53f249a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c88d38043b4042" /><Relationship Type="http://schemas.openxmlformats.org/officeDocument/2006/relationships/notesMaster" Target="/ppt/notesMasters/notesMaster1.xml" Id="R2ab3a3fc679c4ba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c55083e0a84def" /><Relationship Type="http://schemas.openxmlformats.org/officeDocument/2006/relationships/notesMaster" Target="/ppt/notesMasters/notesMaster1.xml" Id="R8ab967fe9b244f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b81d1f6cfa94f36" /><Relationship Type="http://schemas.openxmlformats.org/officeDocument/2006/relationships/notesMaster" Target="/ppt/notesMasters/notesMaster1.xml" Id="Rc59e11f2b74440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39d83fc29c43e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65a8f64c248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955fc133e45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1b6ba2c89f4f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2171fb446441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72e7676c1d457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7850e5cdc3467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43d5f5da5414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fc72fdcb0e4ec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a26daee18e4a1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3a1d9696a14935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DADA5013-2E06-4804-ACA9-695B2D61CE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6608F3A9-FF05-44CD-818C-A2BA6E0A49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8A58F566-6384-4F11-B728-513ACA0C90B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BB1CDD2C-812F-4D2C-A9F0-E99E26C0487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995EFD7F-B36C-4219-90F4-E7E700BE40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25F32582-8D9F-4322-87C2-EB22FDB68E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B6A20FE0-BE98-4E9B-B277-C0B1F9037C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204AEA94-4018-47BA-B508-B30345702D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407256C4-AC72-4ED4-93E7-7D22AE8063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8D03C5F6-B5EF-4B7D-A409-A91F3FF1AA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4232AFEF-A27E-4243-B4BE-3C1DE621C61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80D5E7C3-551E-45CC-963E-CA507A83C0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1CC86D96-8A1C-4CC1-941A-579556DE53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32A2E612-0894-43F6-A578-F286B66774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F4604520-69F6-4D54-B61A-ABCC6FF79B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238480CC-3F24-4BF2-B4B6-F0646C6295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28ECB923-C169-4442-A567-A9B9AB077E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5086C20D-26C1-4744-A202-22B4F45CE3A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C5B50104-8511-4A9A-9DD3-AAD0C850D9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6F69FD6B-797A-43DA-81CC-1D94D205D54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D310FFB9-CC58-44C7-848E-51D83ED5B6F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36F35FF3-8368-47B8-BDBA-F7D38178927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300FC078-E117-49D5-910C-65A4E5C338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A4D0598C-20E9-410A-B11A-A87A85F6F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3D899BB3-DBA8-426C-9AF2-90ADBB6BCC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4B6A36CB-04BF-4756-8236-49315B7693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731F3499-7843-4CF6-AEAA-0727B59FCEB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FCF27D4C-3258-4689-AFA6-C3AC2EC6D4E4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0A48E2F1-D09D-49DF-931A-F0FD31EB4385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0BBABEFF-5DCD-4BCA-A8A5-2D1A9B24D5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2DE01870-CC40-4F60-96BA-DB58C9CFFE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3A472B9C-A973-4CEE-A334-19B1677BD6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8">
            <a:extLst xmlns:a="http://schemas.openxmlformats.org/drawingml/2006/main">
              <a:ext uri="{FF2B5EF4-FFF2-40B4-BE49-F238E27FC236}">
                <a16:creationId xmlns:a16="http://schemas.microsoft.com/office/drawing/2014/main" id="{830BE4CF-15D0-481C-84F6-EBC179411F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8">
            <a:extLst xmlns:a="http://schemas.openxmlformats.org/drawingml/2006/main">
              <a:ext uri="{FF2B5EF4-FFF2-40B4-BE49-F238E27FC236}">
                <a16:creationId xmlns:a16="http://schemas.microsoft.com/office/drawing/2014/main" id="{AC71F55D-4D6A-433B-A0B6-49814C3DD8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8">
            <a:extLst xmlns:a="http://schemas.openxmlformats.org/drawingml/2006/main">
              <a:ext uri="{FF2B5EF4-FFF2-40B4-BE49-F238E27FC236}">
                <a16:creationId xmlns:a16="http://schemas.microsoft.com/office/drawing/2014/main" id="{506316FD-E7BA-4C5A-9066-5DCB3A5296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9A66FCF1-833E-4DF4-A197-BCC89A1ABCF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7FE75B55-93F7-4052-96AB-8565C833E48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BE787BF9-B4C4-498B-99AD-E80F2720D1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64DD4370-F0AB-4EB6-82DA-CE8681080F3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5CB9ED15-57A2-431E-9886-9C9B448A60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1B11AB9C-D562-4E24-9D10-E3D0C6A41F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DF3FBD29-466F-41E9-BAE6-EBEF6C8516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8C9498FB-670F-4F57-BD5E-B81AD8E035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A0224925-948B-467C-8787-2867A5DE960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CE4FD713-9D21-47D3-9BA2-646BE3AEC5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A59DF720-7A66-4300-A084-4DAB0C7FDD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384D824C-C6E6-4678-86B1-1EB2F62F6A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33314E63-AADE-42DC-A757-56DE6CAFA5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1">
            <a:extLst xmlns:a="http://schemas.openxmlformats.org/drawingml/2006/main">
              <a:ext uri="{FF2B5EF4-FFF2-40B4-BE49-F238E27FC236}">
                <a16:creationId xmlns:a16="http://schemas.microsoft.com/office/drawing/2014/main" id="{3CBEF617-C6BB-488C-A916-71179B2E9C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A84893FD-A342-43DA-A031-BB27D0E668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F1ED77F6-AE67-44D8-9428-81A6D186171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52B31AA3-B974-45FD-8976-B8F860F51F0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FB3F38E5-9016-4B66-8EEA-5FC0B5AF010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2">
            <a:extLst xmlns:a="http://schemas.openxmlformats.org/drawingml/2006/main">
              <a:ext uri="{FF2B5EF4-FFF2-40B4-BE49-F238E27FC236}">
                <a16:creationId xmlns:a16="http://schemas.microsoft.com/office/drawing/2014/main" id="{2B59D5B9-3E6C-4238-A8C1-7975797B66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2">
            <a:extLst xmlns:a="http://schemas.openxmlformats.org/drawingml/2006/main">
              <a:ext uri="{FF2B5EF4-FFF2-40B4-BE49-F238E27FC236}">
                <a16:creationId xmlns:a16="http://schemas.microsoft.com/office/drawing/2014/main" id="{35FDA5F3-C688-42E9-BA2C-49366FADFE0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36FAE6C3-14E0-46B7-B9D8-2F6843D4C4E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62DB4544-58C2-41A5-925E-5C481AAC75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D1B24B53-E6AE-43EB-8BFF-67E38828B8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e193e22f34412a" /><Relationship Type="http://schemas.openxmlformats.org/officeDocument/2006/relationships/slideLayout" Target="/ppt/slideLayouts/slideLayout1.xml" Id="R1b5749a8be6542d7" /><Relationship Type="http://schemas.openxmlformats.org/officeDocument/2006/relationships/slideLayout" Target="/ppt/slideLayouts/slideLayout2.xml" Id="Rc8a0447a6c134759" /><Relationship Type="http://schemas.openxmlformats.org/officeDocument/2006/relationships/slideLayout" Target="/ppt/slideLayouts/slideLayout3.xml" Id="R653c9c93ddd94b5e" /><Relationship Type="http://schemas.openxmlformats.org/officeDocument/2006/relationships/slideLayout" Target="/ppt/slideLayouts/slideLayout4.xml" Id="Ra8f60b7b06454395" /><Relationship Type="http://schemas.openxmlformats.org/officeDocument/2006/relationships/slideLayout" Target="/ppt/slideLayouts/slideLayout5.xml" Id="Rd8cc13e2073c4fee" /><Relationship Type="http://schemas.openxmlformats.org/officeDocument/2006/relationships/slideLayout" Target="/ppt/slideLayouts/slideLayout6.xml" Id="R30a05824da6d4168" /><Relationship Type="http://schemas.openxmlformats.org/officeDocument/2006/relationships/slideLayout" Target="/ppt/slideLayouts/slideLayout7.xml" Id="Rc59ae6dd5957427d" /><Relationship Type="http://schemas.openxmlformats.org/officeDocument/2006/relationships/slideLayout" Target="/ppt/slideLayouts/slideLayout8.xml" Id="R8d052b8ec99a4148" /><Relationship Type="http://schemas.openxmlformats.org/officeDocument/2006/relationships/slideLayout" Target="/ppt/slideLayouts/slideLayout9.xml" Id="R65c31ad8299d460b" /><Relationship Type="http://schemas.openxmlformats.org/officeDocument/2006/relationships/slideLayout" Target="/ppt/slideLayouts/slideLayout10.xml" Id="R0b9deebca948499f" /><Relationship Type="http://schemas.openxmlformats.org/officeDocument/2006/relationships/slideLayout" Target="/ppt/slideLayouts/slideLayout11.xml" Id="R7c75d70cadfc4ac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4628A615-6B17-4A83-9AB5-9EA0F14ABB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083AFCC2-3E11-4954-A269-A72FDDDE3D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960D96C6-B855-4C43-9B71-224D410EF1A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002B0F5B-B477-421B-9A11-5D82419488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9239B4F8-D1AA-48FE-A56D-0A37A0A83C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5749a8be6542d7"/>
    <p:sldLayoutId xmlns:r="http://schemas.openxmlformats.org/officeDocument/2006/relationships" id="2147483650" r:id="Rc8a0447a6c134759"/>
    <p:sldLayoutId xmlns:r="http://schemas.openxmlformats.org/officeDocument/2006/relationships" id="2147483651" r:id="R653c9c93ddd94b5e"/>
    <p:sldLayoutId xmlns:r="http://schemas.openxmlformats.org/officeDocument/2006/relationships" id="2147483652" r:id="Ra8f60b7b06454395"/>
    <p:sldLayoutId xmlns:r="http://schemas.openxmlformats.org/officeDocument/2006/relationships" id="2147483653" r:id="Rd8cc13e2073c4fee"/>
    <p:sldLayoutId xmlns:r="http://schemas.openxmlformats.org/officeDocument/2006/relationships" id="2147483654" r:id="R30a05824da6d4168"/>
    <p:sldLayoutId xmlns:r="http://schemas.openxmlformats.org/officeDocument/2006/relationships" id="2147483655" r:id="Rc59ae6dd5957427d"/>
    <p:sldLayoutId xmlns:r="http://schemas.openxmlformats.org/officeDocument/2006/relationships" id="2147483656" r:id="R8d052b8ec99a4148"/>
    <p:sldLayoutId xmlns:r="http://schemas.openxmlformats.org/officeDocument/2006/relationships" id="2147483657" r:id="R65c31ad8299d460b"/>
    <p:sldLayoutId xmlns:r="http://schemas.openxmlformats.org/officeDocument/2006/relationships" id="2147483658" r:id="R0b9deebca948499f"/>
    <p:sldLayoutId xmlns:r="http://schemas.openxmlformats.org/officeDocument/2006/relationships" id="2147483659" r:id="R7c75d70cadfc4aca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ED957"/>
      </a:hlink>
      <a:folHlink>
        <a:srgbClr val="7ED95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8ce620bbaa46c5" /><Relationship Type="http://schemas.openxmlformats.org/officeDocument/2006/relationships/image" Target="/ppt/media/image.png" Id="Ra6eb80766ef848b5" /><Relationship Type="http://schemas.openxmlformats.org/officeDocument/2006/relationships/image" Target="/ppt/media/image2.png" Id="R5eb18061a1574b00" /><Relationship Type="http://schemas.openxmlformats.org/officeDocument/2006/relationships/image" Target="/ppt/media/image3.png" Id="R86033bade41e43bd" /><Relationship Type="http://schemas.openxmlformats.org/officeDocument/2006/relationships/notesSlide" Target="/ppt/notesSlides/notesSlide1.xml" Id="Rce0edeb935854f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1c8e1867be4499" /><Relationship Type="http://schemas.openxmlformats.org/officeDocument/2006/relationships/image" Target="/ppt/media/image3.png" Id="R722c69eb08d34758" /><Relationship Type="http://schemas.openxmlformats.org/officeDocument/2006/relationships/image" Target="/ppt/media/image.png" Id="Rd9e8b448fd0a4c27" /><Relationship Type="http://schemas.openxmlformats.org/officeDocument/2006/relationships/notesSlide" Target="/ppt/notesSlides/notesSlide2.xml" Id="R47b7675598304e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f24af08434a97" /><Relationship Type="http://schemas.openxmlformats.org/officeDocument/2006/relationships/image" Target="/ppt/media/image3.png" Id="R1b278f01aad148d1" /><Relationship Type="http://schemas.openxmlformats.org/officeDocument/2006/relationships/image" Target="/ppt/media/image.png" Id="Ra8203bff5ad74948" /><Relationship Type="http://schemas.openxmlformats.org/officeDocument/2006/relationships/notesSlide" Target="/ppt/notesSlides/notesSlide3.xml" Id="Rbb4831d57f4549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1715cfead445d" /><Relationship Type="http://schemas.openxmlformats.org/officeDocument/2006/relationships/image" Target="/ppt/media/image3.png" Id="R914497896df24f0e" /><Relationship Type="http://schemas.openxmlformats.org/officeDocument/2006/relationships/image" Target="/ppt/media/image.png" Id="Rc8e682ed83344353" /><Relationship Type="http://schemas.openxmlformats.org/officeDocument/2006/relationships/notesSlide" Target="/ppt/notesSlides/notesSlide4.xml" Id="R9e2053248af949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aba5528894e91" /><Relationship Type="http://schemas.openxmlformats.org/officeDocument/2006/relationships/image" Target="/ppt/media/image3.png" Id="Rec0beef7e2fb4bdc" /><Relationship Type="http://schemas.openxmlformats.org/officeDocument/2006/relationships/image" Target="/ppt/media/image.png" Id="R468fc89c9ac24add" /><Relationship Type="http://schemas.openxmlformats.org/officeDocument/2006/relationships/notesSlide" Target="/ppt/notesSlides/notesSlide5.xml" Id="Raf94ea6e1bd645a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096cb3071442b9" /><Relationship Type="http://schemas.openxmlformats.org/officeDocument/2006/relationships/image" Target="/ppt/media/image3.png" Id="Rd738e18cc10c4188" /><Relationship Type="http://schemas.openxmlformats.org/officeDocument/2006/relationships/image" Target="/ppt/media/image.png" Id="Re68876cffe5f429e" /><Relationship Type="http://schemas.openxmlformats.org/officeDocument/2006/relationships/image" Target="/ppt/media/image4.png" Id="Rc5336e2dad554846" /><Relationship Type="http://schemas.openxmlformats.org/officeDocument/2006/relationships/notesSlide" Target="/ppt/notesSlides/notesSlide6.xml" Id="R2ba8e541b1824a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a8be90a5da4873" /><Relationship Type="http://schemas.openxmlformats.org/officeDocument/2006/relationships/image" Target="/ppt/media/image3.png" Id="R944b71c8771a4df2" /><Relationship Type="http://schemas.openxmlformats.org/officeDocument/2006/relationships/image" Target="/ppt/media/image.png" Id="Ra1e5293a3db2446b" /><Relationship Type="http://schemas.openxmlformats.org/officeDocument/2006/relationships/notesSlide" Target="/ppt/notesSlides/notesSlide7.xml" Id="Rfaa0505436fd49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f1646968e48ba" /><Relationship Type="http://schemas.openxmlformats.org/officeDocument/2006/relationships/image" Target="/ppt/media/image3.png" Id="R077420709ab0480b" /><Relationship Type="http://schemas.openxmlformats.org/officeDocument/2006/relationships/image" Target="/ppt/media/image.png" Id="Ra5a8cda307cc4997" /><Relationship Type="http://schemas.openxmlformats.org/officeDocument/2006/relationships/notesSlide" Target="/ppt/notesSlides/notesSlide8.xml" Id="R6f7fbabb300942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21658ee164a73" /><Relationship Type="http://schemas.openxmlformats.org/officeDocument/2006/relationships/image" Target="/ppt/media/image3.png" Id="R8704c243116241b0" /><Relationship Type="http://schemas.openxmlformats.org/officeDocument/2006/relationships/image" Target="/ppt/media/image.png" Id="R068f87f0be9a4e08" /><Relationship Type="http://schemas.openxmlformats.org/officeDocument/2006/relationships/notesSlide" Target="/ppt/notesSlides/notesSlide9.xml" Id="Rb798cd9458cf415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c3b77216b04161" /><Relationship Type="http://schemas.openxmlformats.org/officeDocument/2006/relationships/image" Target="/ppt/media/image3.png" Id="R69b412de167d487d" /><Relationship Type="http://schemas.openxmlformats.org/officeDocument/2006/relationships/image" Target="/ppt/media/image.png" Id="R698e21da084e4d18" /><Relationship Type="http://schemas.openxmlformats.org/officeDocument/2006/relationships/notesSlide" Target="/ppt/notesSlides/notesSlide10.xml" Id="Rfbb85c1ec9e344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13">
            <a:extLst xmlns:a="http://schemas.openxmlformats.org/drawingml/2006/main">
              <a:ext uri="{FF2B5EF4-FFF2-40B4-BE49-F238E27FC236}">
                <a16:creationId xmlns:a16="http://schemas.microsoft.com/office/drawing/2014/main" id="{9A454E54-C605-4BE1-A19C-48D002B4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0868" y="428366"/>
            <a:ext cx="2557417" cy="1163625"/>
          </a:xfrm>
          <a:custGeom xmlns:a="http://schemas.openxmlformats.org/drawingml/2006/main">
            <a:rect l="l" t="t" r="r" b="b"/>
            <a:pathLst>
              <a:path w="2991131" h="1360965">
                <a:moveTo>
                  <a:pt x="0" y="0"/>
                </a:moveTo>
                <a:lnTo>
                  <a:pt x="2991131" y="0"/>
                </a:lnTo>
                <a:lnTo>
                  <a:pt x="2991131" y="1360965"/>
                </a:lnTo>
                <a:lnTo>
                  <a:pt x="0" y="13609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eb80766ef848b5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85" name="Google Shape;85;p13">
            <a:extLst xmlns:a="http://schemas.openxmlformats.org/drawingml/2006/main">
              <a:ext uri="{FF2B5EF4-FFF2-40B4-BE49-F238E27FC236}">
                <a16:creationId xmlns:a16="http://schemas.microsoft.com/office/drawing/2014/main" id="{819BF34B-5D3B-47AD-A99B-88E157AE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"/>
            <a:ext cx="12801600" cy="30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8AD523FF-2E9D-4A8D-96F1-8BA23EC0B9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eb18061a1574b00">
            <a:alphaModFix/>
          </a:blip>
          <a:srcRect xmlns:a="http://schemas.openxmlformats.org/drawingml/2006/main" l="0" t="7966" r="0" b="45449"/>
          <a:stretch xmlns:a="http://schemas.openxmlformats.org/drawingml/2006/main"/>
        </p:blipFill>
        <p:spPr>
          <a:xfrm xmlns:a="http://schemas.openxmlformats.org/drawingml/2006/main">
            <a:off x="1454375" y="0"/>
            <a:ext cx="15873900" cy="102869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7" name="Google Shape;87;p13">
            <a:extLst xmlns:a="http://schemas.openxmlformats.org/drawingml/2006/main">
              <a:ext uri="{FF2B5EF4-FFF2-40B4-BE49-F238E27FC236}">
                <a16:creationId xmlns:a16="http://schemas.microsoft.com/office/drawing/2014/main" id="{372DD4E4-71C0-4428-AD78-A81A9354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1193" y="428366"/>
            <a:ext cx="2557417" cy="1163625"/>
          </a:xfrm>
          <a:custGeom xmlns:a="http://schemas.openxmlformats.org/drawingml/2006/main">
            <a:rect l="l" t="t" r="r" b="b"/>
            <a:pathLst>
              <a:path w="2991131" h="1360965">
                <a:moveTo>
                  <a:pt x="0" y="0"/>
                </a:moveTo>
                <a:lnTo>
                  <a:pt x="2991131" y="0"/>
                </a:lnTo>
                <a:lnTo>
                  <a:pt x="2991131" y="1360965"/>
                </a:lnTo>
                <a:lnTo>
                  <a:pt x="0" y="13609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6eb80766ef848b5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88" name="Google Shape;88;p13">
            <a:extLst xmlns:a="http://schemas.openxmlformats.org/drawingml/2006/main">
              <a:ext uri="{FF2B5EF4-FFF2-40B4-BE49-F238E27FC236}">
                <a16:creationId xmlns:a16="http://schemas.microsoft.com/office/drawing/2014/main" id="{721B6711-F3FE-427D-BFA0-813B5302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13" y="235939"/>
            <a:ext cx="1692510" cy="1817460"/>
          </a:xfrm>
          <a:custGeom xmlns:a="http://schemas.openxmlformats.org/drawingml/2006/main">
            <a:rect l="l" t="t" r="r" b="b"/>
            <a:pathLst>
              <a:path w="1945414" h="2089034">
                <a:moveTo>
                  <a:pt x="0" y="0"/>
                </a:moveTo>
                <a:lnTo>
                  <a:pt x="1945415" y="0"/>
                </a:lnTo>
                <a:lnTo>
                  <a:pt x="1945415" y="2089033"/>
                </a:lnTo>
                <a:lnTo>
                  <a:pt x="0" y="208903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86033bade41e43bd">
              <a:alphaModFix/>
            </a:blip>
            <a:stretch>
              <a:fillRect l="-3690" t="0" r="-3690" b="0"/>
            </a:stretch>
          </a:blipFill>
          <a:ln xmlns:a="http://schemas.openxmlformats.org/drawingml/2006/main">
            <a:noFill/>
          </a:ln>
        </p:spPr>
      </p:sp>
    </p:spTree>
    <p:extLst>
      <p:ext uri="{BB962C8B-B14F-4D97-AF65-F5344CB8AC3E}">
        <p14:creationId xmlns:p14="http://schemas.microsoft.com/office/powerpoint/2010/main" val="6879739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3" name="Google Shape;93;p14">
            <a:extLst xmlns:a="http://schemas.openxmlformats.org/drawingml/2006/main">
              <a:ext uri="{FF2B5EF4-FFF2-40B4-BE49-F238E27FC236}">
                <a16:creationId xmlns:a16="http://schemas.microsoft.com/office/drawing/2014/main" id="{14FA3C72-5A8E-4650-BBDA-B02F4530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63" y="251689"/>
            <a:ext cx="1691223" cy="1816077"/>
          </a:xfrm>
          <a:custGeom xmlns:a="http://schemas.openxmlformats.org/drawingml/2006/main">
            <a:rect l="l" t="t" r="r" b="b"/>
            <a:pathLst>
              <a:path w="1945414" h="2089034">
                <a:moveTo>
                  <a:pt x="0" y="0"/>
                </a:moveTo>
                <a:lnTo>
                  <a:pt x="1945415" y="0"/>
                </a:lnTo>
                <a:lnTo>
                  <a:pt x="1945415" y="2089033"/>
                </a:lnTo>
                <a:lnTo>
                  <a:pt x="0" y="2089033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722c69eb08d34758">
              <a:alphaModFix/>
            </a:blip>
            <a:stretch>
              <a:fillRect l="-3688" t="0" r="-3690" b="0"/>
            </a:stretch>
          </a:blipFill>
          <a:ln xmlns:a="http://schemas.openxmlformats.org/drawingml/2006/main">
            <a:noFill/>
          </a:ln>
        </p:spPr>
      </p:sp>
      <p:sp>
        <p:nvSpPr>
          <p:cNvPr id="94" name="Google Shape;94;p14">
            <a:extLst xmlns:a="http://schemas.openxmlformats.org/drawingml/2006/main">
              <a:ext uri="{FF2B5EF4-FFF2-40B4-BE49-F238E27FC236}">
                <a16:creationId xmlns:a16="http://schemas.microsoft.com/office/drawing/2014/main" id="{2592909D-102E-4E89-8D18-EAC8339D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593" y="446116"/>
            <a:ext cx="2560807" cy="1165167"/>
          </a:xfrm>
          <a:custGeom xmlns:a="http://schemas.openxmlformats.org/drawingml/2006/main">
            <a:rect l="l" t="t" r="r" b="b"/>
            <a:pathLst>
              <a:path w="2991131" h="1360965">
                <a:moveTo>
                  <a:pt x="0" y="0"/>
                </a:moveTo>
                <a:lnTo>
                  <a:pt x="2991131" y="0"/>
                </a:lnTo>
                <a:lnTo>
                  <a:pt x="2991131" y="1360965"/>
                </a:lnTo>
                <a:lnTo>
                  <a:pt x="0" y="1360965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d9e8b448fd0a4c27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95" name="Google Shape;95;p14">
            <a:extLst xmlns:a="http://schemas.openxmlformats.org/drawingml/2006/main">
              <a:ext uri="{FF2B5EF4-FFF2-40B4-BE49-F238E27FC236}">
                <a16:creationId xmlns:a16="http://schemas.microsoft.com/office/drawing/2014/main" id="{C3C7F8EA-A15A-4A8F-BF3E-68BC92A9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"/>
            <a:ext cx="12801600" cy="10972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6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ClearCare</a:t>
            </a:r>
            <a:endParaRPr/>
          </a:p>
        </p:txBody>
      </p:sp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ED782098-C1BE-4BA0-98EB-F1A8DDDE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8458200" cy="1371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TEAM NAME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3000">
                <a:solidFill>
                  <a:srgbClr val="A6A6A6"/>
                </a:solidFill>
              </a:rPr>
              <a:t>Cassandra</a:t>
            </a:r>
            <a:endParaRPr/>
          </a:p>
        </p:txBody>
      </p:sp>
      <p:sp>
        <p:nvSpPr>
          <p:cNvPr id="97" name="Google Shape;97;p14">
            <a:extLst xmlns:a="http://schemas.openxmlformats.org/drawingml/2006/main">
              <a:ext uri="{FF2B5EF4-FFF2-40B4-BE49-F238E27FC236}">
                <a16:creationId xmlns:a16="http://schemas.microsoft.com/office/drawing/2014/main" id="{DFCB8316-A976-49A3-B7D8-1E4B4AA5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240280"/>
            <a:ext cx="8458200" cy="1371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TRACK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3000">
                <a:solidFill>
                  <a:srgbClr val="A6A6A6"/>
                </a:solidFill>
              </a:rPr>
              <a:t>Health and Wellbeing</a:t>
            </a:r>
            <a:endParaRPr/>
          </a:p>
        </p:txBody>
      </p:sp>
      <p:sp>
        <p:nvSpPr>
          <p:cNvPr id="98" name="Google Shape;98;p14">
            <a:extLst xmlns:a="http://schemas.openxmlformats.org/drawingml/2006/main">
              <a:ext uri="{FF2B5EF4-FFF2-40B4-BE49-F238E27FC236}">
                <a16:creationId xmlns:a16="http://schemas.microsoft.com/office/drawing/2014/main" id="{D55B83A4-CDBD-4682-BC43-24911084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886200"/>
            <a:ext cx="4091940" cy="1371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LEADER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800">
                <a:solidFill>
                  <a:srgbClr val="A6A6A6"/>
                </a:solidFill>
              </a:rPr>
              <a:t>Adishree Gupta</a:t>
            </a:r>
            <a:endParaRPr/>
          </a:p>
        </p:txBody>
      </p:sp>
      <p:sp>
        <p:nvSpPr>
          <p:cNvPr id="99" name="Google Shape;99;p14">
            <a:extLst xmlns:a="http://schemas.openxmlformats.org/drawingml/2006/main">
              <a:ext uri="{FF2B5EF4-FFF2-40B4-BE49-F238E27FC236}">
                <a16:creationId xmlns:a16="http://schemas.microsoft.com/office/drawing/2014/main" id="{7D96C04B-207D-4A37-8086-FC6D1087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886200"/>
            <a:ext cx="4091940" cy="1371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MEMBER 1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800">
                <a:solidFill>
                  <a:srgbClr val="A6A6A6"/>
                </a:solidFill>
              </a:rPr>
              <a:t>Swathi S</a:t>
            </a:r>
            <a:endParaRPr/>
          </a:p>
        </p:txBody>
      </p:sp>
      <p:sp>
        <p:nvSpPr>
          <p:cNvPr id="100" name="Google Shape;100;p14">
            <a:extLst xmlns:a="http://schemas.openxmlformats.org/drawingml/2006/main">
              <a:ext uri="{FF2B5EF4-FFF2-40B4-BE49-F238E27FC236}">
                <a16:creationId xmlns:a16="http://schemas.microsoft.com/office/drawing/2014/main" id="{28D04745-7AB5-4A3F-B636-486A7168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886200"/>
            <a:ext cx="4091940" cy="1371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MEMBER 2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800">
                <a:solidFill>
                  <a:srgbClr val="A6A6A6"/>
                </a:solidFill>
              </a:rPr>
              <a:t>Jawwaad Sheriff</a:t>
            </a:r>
            <a:endParaRPr/>
          </a:p>
        </p:txBody>
      </p:sp>
      <p:sp>
        <p:nvSpPr>
          <p:cNvPr id="101" name="Google Shape;101;p14">
            <a:extLst xmlns:a="http://schemas.openxmlformats.org/drawingml/2006/main">
              <a:ext uri="{FF2B5EF4-FFF2-40B4-BE49-F238E27FC236}">
                <a16:creationId xmlns:a16="http://schemas.microsoft.com/office/drawing/2014/main" id="{436FDF90-52DB-46D2-8DD5-C51D3A64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7420" y="3886200"/>
            <a:ext cx="4091940" cy="1371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TEAM SIZE</a:t>
            </a:r>
            <a:endParaRPr/>
          </a:p>
          <a:p xmlns:a="http://schemas.openxmlformats.org/drawingml/2006/main">
            <a:pPr marL="0" lvl="0" indent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sz="2800">
                <a:solidFill>
                  <a:srgbClr val="A6A6A6"/>
                </a:solidFill>
              </a:rPr>
              <a:t>3 people</a:t>
            </a:r>
            <a:endParaRPr>
              <a:solidFill>
                <a:schemeClr val="dk1"/>
              </a:solidFill>
            </a:endParaRPr>
          </a:p>
          <a:p xmlns:a="http://schemas.openxmlformats.org/drawingml/2006/main">
            <a:pPr marL="0" lvl="0" indent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</a:p>
        </p:txBody>
      </p:sp>
      <p:sp>
        <p:nvSpPr>
          <p:cNvPr id="102" name="Google Shape;102;p14">
            <a:extLst xmlns:a="http://schemas.openxmlformats.org/drawingml/2006/main">
              <a:ext uri="{FF2B5EF4-FFF2-40B4-BE49-F238E27FC236}">
                <a16:creationId xmlns:a16="http://schemas.microsoft.com/office/drawing/2014/main" id="{802ED50D-2BBA-4427-9821-FC0312EA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532120"/>
            <a:ext cx="17190720" cy="11887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COLLEGE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800">
                <a:solidFill>
                  <a:srgbClr val="A6A6A6"/>
                </a:solidFill>
              </a:rPr>
              <a:t>PES UNIVERSITY</a:t>
            </a:r>
            <a:endParaRPr/>
          </a:p>
        </p:txBody>
      </p:sp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3B4A6C11-FBC1-458E-A8A6-23DD8319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995160"/>
            <a:ext cx="8458200" cy="23317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WHAT WE BUILT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Turns discharge instructions into a source-linked, multilingual care plan with review flags and calendar-ready follow-up.</a:t>
            </a:r>
            <a:endParaRPr/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7F62295E-DB5A-41D5-99E5-772926405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6995160"/>
            <a:ext cx="8458200" cy="2331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HOW </a:t>
            </a:r>
            <a:r>
              <a:rPr sz="2400" b="1">
                <a:solidFill>
                  <a:srgbClr val="7ED957"/>
                </a:solidFill>
              </a:rPr>
              <a:t>AGENTIC AI</a:t>
            </a: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 IS USED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Retrieves relevant care evidence, calls AMD only on user action, verifies the response, and routes uncertainty to human review.</a:t>
            </a:r>
            <a:endParaRPr/>
          </a:p>
        </p:txBody>
      </p:sp>
      <p:sp>
        <p:nvSpPr>
          <p:cNvPr id="105" name="Google Shape;105;p14">
            <a:extLst xmlns:a="http://schemas.openxmlformats.org/drawingml/2006/main">
              <a:ext uri="{FF2B5EF4-FFF2-40B4-BE49-F238E27FC236}">
                <a16:creationId xmlns:a16="http://schemas.microsoft.com/office/drawing/2014/main" id="{837E6A9D-2BDC-471C-B4A5-8EFD0463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9464040"/>
            <a:ext cx="17190720" cy="396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0" i="1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Health and Wellbeing · Synthetic demo · Prototype, not for clinical use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57047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5">
            <a:extLst xmlns:a="http://schemas.openxmlformats.org/drawingml/2006/main">
              <a:ext uri="{FF2B5EF4-FFF2-40B4-BE49-F238E27FC236}">
                <a16:creationId xmlns:a16="http://schemas.microsoft.com/office/drawing/2014/main" id="{70E9DF74-B08F-4B06-83DB-350AF23C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63" y="251689"/>
            <a:ext cx="1691223" cy="1816077"/>
          </a:xfrm>
          <a:custGeom xmlns:a="http://schemas.openxmlformats.org/drawingml/2006/main">
            <a:rect l="l" t="t" r="r" b="b"/>
            <a:pathLst>
              <a:path w="1691223" h="1816077">
                <a:moveTo>
                  <a:pt x="0" y="0"/>
                </a:moveTo>
                <a:lnTo>
                  <a:pt x="1691224" y="0"/>
                </a:lnTo>
                <a:lnTo>
                  <a:pt x="1691224" y="1816077"/>
                </a:lnTo>
                <a:lnTo>
                  <a:pt x="0" y="181607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1b278f01aad148d1">
              <a:alphaModFix/>
            </a:blip>
            <a:stretch>
              <a:fillRect l="-3690" t="0" r="-3690" b="0"/>
            </a:stretch>
          </a:blipFill>
          <a:ln xmlns:a="http://schemas.openxmlformats.org/drawingml/2006/main">
            <a:noFill/>
          </a:ln>
        </p:spPr>
      </p:sp>
      <p:sp>
        <p:nvSpPr>
          <p:cNvPr id="111" name="Google Shape;111;p15">
            <a:extLst xmlns:a="http://schemas.openxmlformats.org/drawingml/2006/main">
              <a:ext uri="{FF2B5EF4-FFF2-40B4-BE49-F238E27FC236}">
                <a16:creationId xmlns:a16="http://schemas.microsoft.com/office/drawing/2014/main" id="{3DF52A96-1192-4242-9ACA-87681624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593" y="446116"/>
            <a:ext cx="2560807" cy="1165167"/>
          </a:xfrm>
          <a:custGeom xmlns:a="http://schemas.openxmlformats.org/drawingml/2006/main">
            <a:rect l="l" t="t" r="r" b="b"/>
            <a:pathLst>
              <a:path w="2560807" h="1165167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8203bff5ad74948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12" name="Google Shape;112;p15">
            <a:extLst xmlns:a="http://schemas.openxmlformats.org/drawingml/2006/main">
              <a:ext uri="{FF2B5EF4-FFF2-40B4-BE49-F238E27FC236}">
                <a16:creationId xmlns:a16="http://schemas.microsoft.com/office/drawing/2014/main" id="{95D4D932-AF16-4819-B089-9130D74E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"/>
            <a:ext cx="12801600" cy="9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problem we chose</a:t>
            </a:r>
            <a:endParaRPr/>
          </a:p>
        </p:txBody>
      </p:sp>
      <p:sp>
        <p:nvSpPr>
          <p:cNvPr id="113" name="Google Shape;113;p15">
            <a:extLst xmlns:a="http://schemas.openxmlformats.org/drawingml/2006/main">
              <a:ext uri="{FF2B5EF4-FFF2-40B4-BE49-F238E27FC236}">
                <a16:creationId xmlns:a16="http://schemas.microsoft.com/office/drawing/2014/main" id="{4C976F61-68AF-4F1B-87CB-80B6946A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8458200" cy="3657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THE CHOSEN PROBLEM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3000">
                <a:solidFill>
                  <a:schemeClr val="lt1"/>
                </a:solidFill>
              </a:rPr>
              <a:t>Patients and caregivers leave hospital with dense instructions and must turn them into safe next steps at home.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4" name="Google Shape;114;p15">
            <a:extLst xmlns:a="http://schemas.openxmlformats.org/drawingml/2006/main">
              <a:ext uri="{FF2B5EF4-FFF2-40B4-BE49-F238E27FC236}">
                <a16:creationId xmlns:a16="http://schemas.microsoft.com/office/drawing/2014/main" id="{72D550E9-FA84-40EE-84D0-AE3C4936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240280"/>
            <a:ext cx="8458200" cy="3657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800" b="1">
                <a:solidFill>
                  <a:srgbClr val="7ED957"/>
                </a:solidFill>
              </a:rPr>
              <a:t>PEOPLE AFFECTED</a:t>
            </a:r>
            <a:endParaRPr sz="2800" b="1">
              <a:solidFill>
                <a:srgbClr val="7ED957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>
                <a:solidFill>
                  <a:srgbClr val="FFFFFF"/>
                </a:solidFill>
              </a:rPr>
              <a:t>Patients recovering at home and the family members helping manage their care.</a:t>
            </a:r>
            <a:endParaRPr sz="3000">
              <a:solidFill>
                <a:srgbClr val="FFFFFF"/>
              </a:solidFill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800" b="1">
              <a:solidFill>
                <a:srgbClr val="7ED957"/>
              </a:solidFill>
            </a:endParaRPr>
          </a:p>
        </p:txBody>
      </p:sp>
      <p:sp>
        <p:nvSpPr>
          <p:cNvPr id="115" name="Google Shape;115;p15">
            <a:extLst xmlns:a="http://schemas.openxmlformats.org/drawingml/2006/main">
              <a:ext uri="{FF2B5EF4-FFF2-40B4-BE49-F238E27FC236}">
                <a16:creationId xmlns:a16="http://schemas.microsoft.com/office/drawing/2014/main" id="{86C467B4-6E21-42AB-888A-33482BD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72200"/>
            <a:ext cx="8458200" cy="3657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800" b="1">
                <a:solidFill>
                  <a:srgbClr val="7ED957"/>
                </a:solidFill>
              </a:rPr>
              <a:t>WHY IT MATTERS</a:t>
            </a:r>
            <a:endParaRPr sz="2800" b="1">
              <a:solidFill>
                <a:srgbClr val="7ED957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>
                <a:solidFill>
                  <a:srgbClr val="FFFFFF"/>
                </a:solidFill>
              </a:rPr>
              <a:t>Missing dose units, conflicting directions, or vague follow-up details can leave people unsure what to ask next.</a:t>
            </a:r>
            <a:endParaRPr sz="3000">
              <a:solidFill>
                <a:srgbClr val="FFFFFF"/>
              </a:solidFill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800" b="1">
              <a:solidFill>
                <a:srgbClr val="7ED957"/>
              </a:solidFill>
            </a:endParaRPr>
          </a:p>
        </p:txBody>
      </p:sp>
      <p:sp>
        <p:nvSpPr>
          <p:cNvPr id="116" name="Google Shape;116;p15">
            <a:extLst xmlns:a="http://schemas.openxmlformats.org/drawingml/2006/main">
              <a:ext uri="{FF2B5EF4-FFF2-40B4-BE49-F238E27FC236}">
                <a16:creationId xmlns:a16="http://schemas.microsoft.com/office/drawing/2014/main" id="{C73DF76C-05FF-44A2-97A8-C8DCB769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6172200"/>
            <a:ext cx="8458200" cy="3657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800" b="1">
                <a:solidFill>
                  <a:srgbClr val="7ED957"/>
                </a:solidFill>
              </a:rPr>
              <a:t>PROBLEM STATEMENT</a:t>
            </a:r>
            <a:endParaRPr sz="2800" b="1">
              <a:solidFill>
                <a:srgbClr val="7ED957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3000">
                <a:solidFill>
                  <a:srgbClr val="FFFFFF"/>
                </a:solidFill>
              </a:rPr>
              <a:t>How might we help patients and caregivers understand discharge instructions and organize next steps without guessing when details are unclear?</a:t>
            </a:r>
            <a:endParaRPr sz="3000">
              <a:solidFill>
                <a:srgbClr val="FFFFFF"/>
              </a:solidFill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800" b="1">
              <a:solidFill>
                <a:srgbClr val="7ED9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2647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16">
            <a:extLst xmlns:a="http://schemas.openxmlformats.org/drawingml/2006/main">
              <a:ext uri="{FF2B5EF4-FFF2-40B4-BE49-F238E27FC236}">
                <a16:creationId xmlns:a16="http://schemas.microsoft.com/office/drawing/2014/main" id="{4F677858-692D-4965-829B-1B9D7CDB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63" y="251689"/>
            <a:ext cx="1691223" cy="1816077"/>
          </a:xfrm>
          <a:custGeom xmlns:a="http://schemas.openxmlformats.org/drawingml/2006/main">
            <a:rect l="l" t="t" r="r" b="b"/>
            <a:pathLst>
              <a:path w="1691223" h="1816077">
                <a:moveTo>
                  <a:pt x="0" y="0"/>
                </a:moveTo>
                <a:lnTo>
                  <a:pt x="1691224" y="0"/>
                </a:lnTo>
                <a:lnTo>
                  <a:pt x="1691224" y="1816077"/>
                </a:lnTo>
                <a:lnTo>
                  <a:pt x="0" y="181607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14497896df24f0e">
              <a:alphaModFix/>
            </a:blip>
            <a:stretch>
              <a:fillRect l="-3688" t="0" r="-3690" b="0"/>
            </a:stretch>
          </a:blipFill>
          <a:ln xmlns:a="http://schemas.openxmlformats.org/drawingml/2006/main">
            <a:noFill/>
          </a:ln>
        </p:spPr>
      </p:sp>
      <p:sp>
        <p:nvSpPr>
          <p:cNvPr id="122" name="Google Shape;122;p16">
            <a:extLst xmlns:a="http://schemas.openxmlformats.org/drawingml/2006/main">
              <a:ext uri="{FF2B5EF4-FFF2-40B4-BE49-F238E27FC236}">
                <a16:creationId xmlns:a16="http://schemas.microsoft.com/office/drawing/2014/main" id="{BAF79D68-A3B4-4B27-B650-7E872769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593" y="446116"/>
            <a:ext cx="2560807" cy="1165167"/>
          </a:xfrm>
          <a:custGeom xmlns:a="http://schemas.openxmlformats.org/drawingml/2006/main">
            <a:rect l="l" t="t" r="r" b="b"/>
            <a:pathLst>
              <a:path w="2560807" h="1165167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c8e682ed83344353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23" name="Google Shape;123;p16">
            <a:extLst xmlns:a="http://schemas.openxmlformats.org/drawingml/2006/main">
              <a:ext uri="{FF2B5EF4-FFF2-40B4-BE49-F238E27FC236}">
                <a16:creationId xmlns:a16="http://schemas.microsoft.com/office/drawing/2014/main" id="{B42F520E-D6AE-4649-91D0-5DDBFFEFD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"/>
            <a:ext cx="12801600" cy="9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and existing workarounds</a:t>
            </a:r>
            <a:endParaRPr/>
          </a:p>
        </p:txBody>
      </p:sp>
      <p:sp>
        <p:nvSpPr>
          <p:cNvPr id="124" name="Google Shape;124;p16">
            <a:extLst xmlns:a="http://schemas.openxmlformats.org/drawingml/2006/main">
              <a:ext uri="{FF2B5EF4-FFF2-40B4-BE49-F238E27FC236}">
                <a16:creationId xmlns:a16="http://schemas.microsoft.com/office/drawing/2014/main" id="{FA1CA683-CDBE-4533-8E16-1AB90541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9509760" cy="23469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WHO HAS THIS PROBLEM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Patients and family caregivers managing the move from hospital to home.</a:t>
            </a:r>
            <a:endParaRPr/>
          </a:p>
        </p:txBody>
      </p:sp>
      <p:sp>
        <p:nvSpPr>
          <p:cNvPr id="125" name="Google Shape;125;p16">
            <a:extLst xmlns:a="http://schemas.openxmlformats.org/drawingml/2006/main">
              <a:ext uri="{FF2B5EF4-FFF2-40B4-BE49-F238E27FC236}">
                <a16:creationId xmlns:a16="http://schemas.microsoft.com/office/drawing/2014/main" id="{12D82870-8BDF-4675-A571-9D1D66E11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861560"/>
            <a:ext cx="9509760" cy="23469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HOW OFTEN IT HAPPENS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At each discharge, across pages of instructions and several follow-up tasks.</a:t>
            </a:r>
            <a:endParaRPr/>
          </a:p>
        </p:txBody>
      </p:sp>
      <p:sp>
        <p:nvSpPr>
          <p:cNvPr id="126" name="Google Shape;126;p16">
            <a:extLst xmlns:a="http://schemas.openxmlformats.org/drawingml/2006/main">
              <a:ext uri="{FF2B5EF4-FFF2-40B4-BE49-F238E27FC236}">
                <a16:creationId xmlns:a16="http://schemas.microsoft.com/office/drawing/2014/main" id="{C433077E-E9BC-4F25-AA13-F4964739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7482840"/>
            <a:ext cx="9509760" cy="234696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WHAT IT COSTS THEM TODAY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Time spent searching and cross-checking. Uncertainty can delay a question or routine next step.</a:t>
            </a:r>
            <a:endParaRPr/>
          </a:p>
        </p:txBody>
      </p:sp>
      <p:sp>
        <p:nvSpPr>
          <p:cNvPr id="127" name="Google Shape;127;p16">
            <a:extLst xmlns:a="http://schemas.openxmlformats.org/drawingml/2006/main">
              <a:ext uri="{FF2B5EF4-FFF2-40B4-BE49-F238E27FC236}">
                <a16:creationId xmlns:a16="http://schemas.microsoft.com/office/drawing/2014/main" id="{5CFCEA15-9F4F-4D51-AA48-D6B2D8A0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2240280"/>
            <a:ext cx="7406640" cy="3657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WHAT EXISTS TODAY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Paper discharge packet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Medication list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Phone call to clinic or pharmacist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Personal notes and calendar</a:t>
            </a:r>
          </a:p>
        </p:txBody>
      </p:sp>
      <p:sp>
        <p:nvSpPr>
          <p:cNvPr id="128" name="Google Shape;128;p16">
            <a:extLst xmlns:a="http://schemas.openxmlformats.org/drawingml/2006/main">
              <a:ext uri="{FF2B5EF4-FFF2-40B4-BE49-F238E27FC236}">
                <a16:creationId xmlns:a16="http://schemas.microsoft.com/office/drawing/2014/main" id="{FFCB50F5-8C2F-4B85-ABAF-12B0A60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6172200"/>
            <a:ext cx="7406640" cy="3657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WHERE THEY FALL SHORT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Information is spread across documents and tools.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Unclear or conflicting instructions still need a person to resolve them.</a:t>
            </a:r>
          </a:p>
        </p:txBody>
      </p:sp>
    </p:spTree>
    <p:extLst>
      <p:ext uri="{BB962C8B-B14F-4D97-AF65-F5344CB8AC3E}">
        <p14:creationId xmlns:p14="http://schemas.microsoft.com/office/powerpoint/2010/main" val="10729887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3" name="Google Shape;133;p17">
            <a:extLst xmlns:a="http://schemas.openxmlformats.org/drawingml/2006/main">
              <a:ext uri="{FF2B5EF4-FFF2-40B4-BE49-F238E27FC236}">
                <a16:creationId xmlns:a16="http://schemas.microsoft.com/office/drawing/2014/main" id="{6582AF42-E090-4706-A651-A57732C6D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63" y="251689"/>
            <a:ext cx="1691223" cy="1816077"/>
          </a:xfrm>
          <a:custGeom xmlns:a="http://schemas.openxmlformats.org/drawingml/2006/main">
            <a:rect l="l" t="t" r="r" b="b"/>
            <a:pathLst>
              <a:path w="1691223" h="1816077">
                <a:moveTo>
                  <a:pt x="0" y="0"/>
                </a:moveTo>
                <a:lnTo>
                  <a:pt x="1691224" y="0"/>
                </a:lnTo>
                <a:lnTo>
                  <a:pt x="1691224" y="1816077"/>
                </a:lnTo>
                <a:lnTo>
                  <a:pt x="0" y="181607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c0beef7e2fb4bdc">
              <a:alphaModFix/>
            </a:blip>
            <a:stretch>
              <a:fillRect l="-3688" t="0" r="-3690" b="0"/>
            </a:stretch>
          </a:blipFill>
          <a:ln xmlns:a="http://schemas.openxmlformats.org/drawingml/2006/main">
            <a:noFill/>
          </a:ln>
        </p:spPr>
      </p:sp>
      <p:sp>
        <p:nvSpPr>
          <p:cNvPr id="134" name="Google Shape;134;p17">
            <a:extLst xmlns:a="http://schemas.openxmlformats.org/drawingml/2006/main">
              <a:ext uri="{FF2B5EF4-FFF2-40B4-BE49-F238E27FC236}">
                <a16:creationId xmlns:a16="http://schemas.microsoft.com/office/drawing/2014/main" id="{9C14744B-9386-4676-83F0-B8B21039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593" y="446116"/>
            <a:ext cx="2560807" cy="1165167"/>
          </a:xfrm>
          <a:custGeom xmlns:a="http://schemas.openxmlformats.org/drawingml/2006/main">
            <a:rect l="l" t="t" r="r" b="b"/>
            <a:pathLst>
              <a:path w="2560807" h="1165167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468fc89c9ac24add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35" name="Google Shape;135;p17">
            <a:extLst xmlns:a="http://schemas.openxmlformats.org/drawingml/2006/main">
              <a:ext uri="{FF2B5EF4-FFF2-40B4-BE49-F238E27FC236}">
                <a16:creationId xmlns:a16="http://schemas.microsoft.com/office/drawing/2014/main" id="{B2B37D7C-E7A0-4F92-9614-7A90D67D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"/>
            <a:ext cx="12801600" cy="9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ClearCare works</a:t>
            </a:r>
            <a:endParaRPr/>
          </a:p>
        </p:txBody>
      </p:sp>
      <p:sp>
        <p:nvSpPr>
          <p:cNvPr id="136" name="Google Shape;136;p17">
            <a:extLst xmlns:a="http://schemas.openxmlformats.org/drawingml/2006/main">
              <a:ext uri="{FF2B5EF4-FFF2-40B4-BE49-F238E27FC236}">
                <a16:creationId xmlns:a16="http://schemas.microsoft.com/office/drawing/2014/main" id="{A2A035CB-53B4-4F1C-86B8-59103591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8458200" cy="3657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WHAT OUR AGENT DOES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Reads text PDFs locally and extracts instructions with source evidence.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Explains the original wording in plain language.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Keeps unclear or high-risk items in review.</a:t>
            </a:r>
          </a:p>
        </p:txBody>
      </p:sp>
      <p:sp>
        <p:nvSpPr>
          <p:cNvPr id="137" name="Google Shape;137;p17">
            <a:extLst xmlns:a="http://schemas.openxmlformats.org/drawingml/2006/main">
              <a:ext uri="{FF2B5EF4-FFF2-40B4-BE49-F238E27FC236}">
                <a16:creationId xmlns:a16="http://schemas.microsoft.com/office/drawing/2014/main" id="{B1459A82-0873-43EB-B23E-5502AA12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240280"/>
            <a:ext cx="8458200" cy="3657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 b="1">
                <a:solidFill>
                  <a:srgbClr val="7ED957"/>
                </a:solidFill>
              </a:rPr>
              <a:t>HOW THE AGENT DECIDES</a:t>
            </a:r>
            <a:endParaRPr sz="2400" b="1">
              <a:solidFill>
                <a:srgbClr val="7ED957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600">
                <a:solidFill>
                  <a:srgbClr val="A6A6A6"/>
                </a:solidFill>
              </a:rPr>
              <a:t>Deterministic rules organize and validate document facts. A user click triggers a bounded Care Agent to retrieve relevant evidence and make one AMD request.</a:t>
            </a:r>
            <a:endParaRPr sz="2600">
              <a:solidFill>
                <a:srgbClr val="A6A6A6"/>
              </a:solidFill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 b="1">
              <a:solidFill>
                <a:srgbClr val="7ED957"/>
              </a:solidFill>
            </a:endParaRPr>
          </a:p>
        </p:txBody>
      </p:sp>
      <p:sp>
        <p:nvSpPr>
          <p:cNvPr id="138" name="Google Shape;138;p17">
            <a:extLst xmlns:a="http://schemas.openxmlformats.org/drawingml/2006/main">
              <a:ext uri="{FF2B5EF4-FFF2-40B4-BE49-F238E27FC236}">
                <a16:creationId xmlns:a16="http://schemas.microsoft.com/office/drawing/2014/main" id="{CEA0322A-E66B-4046-BF02-C15A621C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72200"/>
            <a:ext cx="8458200" cy="3657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 b="1">
                <a:solidFill>
                  <a:srgbClr val="7ED957"/>
                </a:solidFill>
              </a:rPr>
              <a:t>HOW IT HANDLES FAILURE</a:t>
            </a:r>
            <a:endParaRPr sz="2400" b="1">
              <a:solidFill>
                <a:srgbClr val="7ED957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600">
                <a:solidFill>
                  <a:srgbClr val="A6A6A6"/>
                </a:solidFill>
              </a:rPr>
              <a:t>Missing units, conflicts, unreadable text, or failed checks remain incomplete or need review. Nothing is silently repaired or auto-retried.</a:t>
            </a:r>
            <a:endParaRPr sz="2600">
              <a:solidFill>
                <a:srgbClr val="A6A6A6"/>
              </a:solidFill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 b="1">
              <a:solidFill>
                <a:srgbClr val="7ED957"/>
              </a:solidFill>
            </a:endParaRPr>
          </a:p>
        </p:txBody>
      </p:sp>
      <p:sp>
        <p:nvSpPr>
          <p:cNvPr id="139" name="Google Shape;139;p17">
            <a:extLst xmlns:a="http://schemas.openxmlformats.org/drawingml/2006/main">
              <a:ext uri="{FF2B5EF4-FFF2-40B4-BE49-F238E27FC236}">
                <a16:creationId xmlns:a16="http://schemas.microsoft.com/office/drawing/2014/main" id="{61911D63-3AD2-421D-B662-6A05D477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6172200"/>
            <a:ext cx="8458200" cy="3657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400" b="1">
                <a:solidFill>
                  <a:srgbClr val="7ED957"/>
                </a:solidFill>
              </a:rPr>
              <a:t>WHY AGENTIC AND NOT A SIMPLE APP</a:t>
            </a:r>
            <a:endParaRPr sz="2400" b="1">
              <a:solidFill>
                <a:srgbClr val="7ED957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600">
                <a:solidFill>
                  <a:srgbClr val="A6A6A6"/>
                </a:solidFill>
              </a:rPr>
              <a:t>A question may need evidence from more than one place. The Care Agent selects document or calendar evidence, then returns a grounded answer with sources. Parsing and calendar rules stay deterministic.</a:t>
            </a:r>
            <a:endParaRPr sz="2600">
              <a:solidFill>
                <a:srgbClr val="A6A6A6"/>
              </a:solidFill>
            </a:endParaR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400" b="1">
              <a:solidFill>
                <a:srgbClr val="7ED95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335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18">
            <a:extLst xmlns:a="http://schemas.openxmlformats.org/drawingml/2006/main">
              <a:ext uri="{FF2B5EF4-FFF2-40B4-BE49-F238E27FC236}">
                <a16:creationId xmlns:a16="http://schemas.microsoft.com/office/drawing/2014/main" id="{A1349E23-FD31-4944-829B-E4C5EF6B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63" y="251689"/>
            <a:ext cx="1691223" cy="1816077"/>
          </a:xfrm>
          <a:custGeom xmlns:a="http://schemas.openxmlformats.org/drawingml/2006/main">
            <a:rect l="l" t="t" r="r" b="b"/>
            <a:pathLst>
              <a:path w="1691223" h="1816077">
                <a:moveTo>
                  <a:pt x="0" y="0"/>
                </a:moveTo>
                <a:lnTo>
                  <a:pt x="1691224" y="0"/>
                </a:lnTo>
                <a:lnTo>
                  <a:pt x="1691224" y="1816077"/>
                </a:lnTo>
                <a:lnTo>
                  <a:pt x="0" y="181607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d738e18cc10c4188">
              <a:alphaModFix/>
            </a:blip>
            <a:stretch>
              <a:fillRect l="-3688" t="0" r="-3690" b="0"/>
            </a:stretch>
          </a:blipFill>
          <a:ln xmlns:a="http://schemas.openxmlformats.org/drawingml/2006/main">
            <a:noFill/>
          </a:ln>
        </p:spPr>
      </p:sp>
      <p:sp>
        <p:nvSpPr>
          <p:cNvPr id="145" name="Google Shape;145;p18">
            <a:extLst xmlns:a="http://schemas.openxmlformats.org/drawingml/2006/main">
              <a:ext uri="{FF2B5EF4-FFF2-40B4-BE49-F238E27FC236}">
                <a16:creationId xmlns:a16="http://schemas.microsoft.com/office/drawing/2014/main" id="{8C3659B3-5C9B-438A-A37B-7A8EC697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593" y="446116"/>
            <a:ext cx="2560807" cy="1165167"/>
          </a:xfrm>
          <a:custGeom xmlns:a="http://schemas.openxmlformats.org/drawingml/2006/main">
            <a:rect l="l" t="t" r="r" b="b"/>
            <a:pathLst>
              <a:path w="2560807" h="1165167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e68876cffe5f429e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46" name="Google Shape;146;p18">
            <a:extLst xmlns:a="http://schemas.openxmlformats.org/drawingml/2006/main">
              <a:ext uri="{FF2B5EF4-FFF2-40B4-BE49-F238E27FC236}">
                <a16:creationId xmlns:a16="http://schemas.microsoft.com/office/drawing/2014/main" id="{6E71ECC8-D191-471F-8AAB-926D5E8B6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"/>
            <a:ext cx="12801600" cy="9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screen and technology</a:t>
            </a:r>
            <a:endParaRPr/>
          </a:p>
        </p:txBody>
      </p:sp>
      <p:sp>
        <p:nvSpPr>
          <p:cNvPr id="147" name="Google Shape;147;p18">
            <a:extLst xmlns:a="http://schemas.openxmlformats.org/drawingml/2006/main">
              <a:ext uri="{FF2B5EF4-FFF2-40B4-BE49-F238E27FC236}">
                <a16:creationId xmlns:a16="http://schemas.microsoft.com/office/drawing/2014/main" id="{83D316A6-7100-4D4E-9A1C-A93302C4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10424160" cy="75895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CLEARCARE IN USE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Original wording stays beside its review status.</a:t>
            </a:r>
            <a:endParaRPr/>
          </a:p>
        </p:txBody>
      </p:sp>
      <p:sp>
        <p:nvSpPr>
          <p:cNvPr id="148" name="Google Shape;148;p18">
            <a:extLst xmlns:a="http://schemas.openxmlformats.org/drawingml/2006/main">
              <a:ext uri="{FF2B5EF4-FFF2-40B4-BE49-F238E27FC236}">
                <a16:creationId xmlns:a16="http://schemas.microsoft.com/office/drawing/2014/main" id="{CC956524-12DD-47F0-88BB-95F224B0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2240280"/>
            <a:ext cx="6492240" cy="75895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TECH STACK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PDF reading: pdf.js and local deterministic extraction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App: JavaScript and Node.js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AMD: Developer Cloud API, DeepSeek-V4-Flash for user-requested explanations, translation, and Care Agent answers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Voice and calendar: browser speech APIs and .ics export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PDF extraction does not use AI. No ROCm claim.</a:t>
            </a:r>
          </a:p>
        </p:txBody>
      </p:sp>
      <p:pic>
        <p:nvPic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3EED45E9-D64C-443F-912B-8C0459B9B2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36e2dad554846"/>
          <a:srcRect xmlns:a="http://schemas.openxmlformats.org/drawingml/2006/main" l="0" t="8756" r="0" b="87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125" y="4000500"/>
            <a:ext cx="9525000" cy="5524500"/>
          </a:xfrm>
          <a:prstGeom xmlns:a="http://schemas.openxmlformats.org/drawingml/2006/main" prst="roundRect">
            <a:avLst>
              <a:gd name="adj" fmla="val 1379"/>
            </a:avLst>
          </a:prstGeom>
        </p:spPr>
      </p:pic>
    </p:spTree>
    <p:extLst>
      <p:ext uri="{BB962C8B-B14F-4D97-AF65-F5344CB8AC3E}">
        <p14:creationId xmlns:p14="http://schemas.microsoft.com/office/powerpoint/2010/main" val="4237212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Google Shape;153;p19">
            <a:extLst xmlns:a="http://schemas.openxmlformats.org/drawingml/2006/main">
              <a:ext uri="{FF2B5EF4-FFF2-40B4-BE49-F238E27FC236}">
                <a16:creationId xmlns:a16="http://schemas.microsoft.com/office/drawing/2014/main" id="{547E7F3C-6C46-4D84-928B-DDFEEB8B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63" y="251689"/>
            <a:ext cx="1691223" cy="1816077"/>
          </a:xfrm>
          <a:custGeom xmlns:a="http://schemas.openxmlformats.org/drawingml/2006/main">
            <a:rect l="l" t="t" r="r" b="b"/>
            <a:pathLst>
              <a:path w="1691223" h="1816077">
                <a:moveTo>
                  <a:pt x="0" y="0"/>
                </a:moveTo>
                <a:lnTo>
                  <a:pt x="1691224" y="0"/>
                </a:lnTo>
                <a:lnTo>
                  <a:pt x="1691224" y="1816078"/>
                </a:lnTo>
                <a:lnTo>
                  <a:pt x="0" y="18160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944b71c8771a4df2">
              <a:alphaModFix/>
            </a:blip>
            <a:stretch>
              <a:fillRect l="-3688" t="0" r="-3690" b="0"/>
            </a:stretch>
          </a:blipFill>
          <a:ln xmlns:a="http://schemas.openxmlformats.org/drawingml/2006/main">
            <a:noFill/>
          </a:ln>
        </p:spPr>
      </p:sp>
      <p:sp>
        <p:nvSpPr>
          <p:cNvPr id="154" name="Google Shape;154;p19">
            <a:extLst xmlns:a="http://schemas.openxmlformats.org/drawingml/2006/main">
              <a:ext uri="{FF2B5EF4-FFF2-40B4-BE49-F238E27FC236}">
                <a16:creationId xmlns:a16="http://schemas.microsoft.com/office/drawing/2014/main" id="{E36377E6-0B14-4280-8894-F8579E64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593" y="446116"/>
            <a:ext cx="2560807" cy="1165167"/>
          </a:xfrm>
          <a:custGeom xmlns:a="http://schemas.openxmlformats.org/drawingml/2006/main">
            <a:rect l="l" t="t" r="r" b="b"/>
            <a:pathLst>
              <a:path w="2560807" h="1165167">
                <a:moveTo>
                  <a:pt x="0" y="0"/>
                </a:moveTo>
                <a:lnTo>
                  <a:pt x="2560807" y="0"/>
                </a:lnTo>
                <a:lnTo>
                  <a:pt x="2560807" y="1165167"/>
                </a:lnTo>
                <a:lnTo>
                  <a:pt x="0" y="1165167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1e5293a3db2446b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55" name="Google Shape;155;p19">
            <a:extLst xmlns:a="http://schemas.openxmlformats.org/drawingml/2006/main">
              <a:ext uri="{FF2B5EF4-FFF2-40B4-BE49-F238E27FC236}">
                <a16:creationId xmlns:a16="http://schemas.microsoft.com/office/drawing/2014/main" id="{0497A25C-A44C-4A76-807D-2A89F70D6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"/>
            <a:ext cx="12801600" cy="9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ClearCare handles data</a:t>
            </a:r>
            <a:endParaRPr/>
          </a:p>
        </p:txBody>
      </p:sp>
      <p:sp>
        <p:nvSpPr>
          <p:cNvPr id="156" name="Google Shape;156;p19">
            <a:extLst xmlns:a="http://schemas.openxmlformats.org/drawingml/2006/main">
              <a:ext uri="{FF2B5EF4-FFF2-40B4-BE49-F238E27FC236}">
                <a16:creationId xmlns:a16="http://schemas.microsoft.com/office/drawing/2014/main" id="{5F72F39B-BA2F-460C-8672-A37088C2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17190600" cy="7589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DATA FLOW DIAGRAM</a:t>
            </a:r>
            <a:endParaRPr/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600">
                <a:solidFill>
                  <a:srgbClr val="A6A6A6"/>
                </a:solidFill>
              </a:rPr>
              <a:t>1  Choose PDF; extract embedded text in the browser.</a:t>
            </a:r>
            <a:endParaRPr sz="2600">
              <a:solidFill>
                <a:srgbClr val="A6A6A6"/>
              </a:solidFill>
            </a:endParaRP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600">
                <a:solidFill>
                  <a:srgbClr val="A6A6A6"/>
                </a:solidFill>
              </a:rPr>
              <a:t>2  Parse fields with exact source evidence.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600">
                <a:solidFill>
                  <a:srgbClr val="A6A6A6"/>
                </a:solidFill>
              </a:rPr>
              <a:t>3  Flag ambiguity, conflicts, missing units, and high-risk medicines.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600">
                <a:solidFill>
                  <a:srgbClr val="A6A6A6"/>
                </a:solidFill>
              </a:rPr>
              <a:t>4  A user click sends selected evidence to AMD.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600">
                <a:solidFill>
                  <a:srgbClr val="A6A6A6"/>
                </a:solidFill>
              </a:rPr>
              <a:t>5  Verify the answer; withhold unsafe output.</a:t>
            </a:r>
          </a:p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600">
                <a:solidFill>
                  <a:srgbClr val="A6A6A6"/>
                </a:solidFill>
              </a:rPr>
              <a:t>6  Keep review items unscheduled; export eligible visits to .ics.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A6A6A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217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1" name="Google Shape;161;p20">
            <a:extLst xmlns:a="http://schemas.openxmlformats.org/drawingml/2006/main">
              <a:ext uri="{FF2B5EF4-FFF2-40B4-BE49-F238E27FC236}">
                <a16:creationId xmlns:a16="http://schemas.microsoft.com/office/drawing/2014/main" id="{6FF6DD93-900E-41D5-8CC1-BE4C73D0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63" y="251689"/>
            <a:ext cx="1691223" cy="1816077"/>
          </a:xfrm>
          <a:custGeom xmlns:a="http://schemas.openxmlformats.org/drawingml/2006/main">
            <a:rect l="l" t="t" r="r" b="b"/>
            <a:pathLst>
              <a:path w="1691223" h="1816077">
                <a:moveTo>
                  <a:pt x="0" y="0"/>
                </a:moveTo>
                <a:lnTo>
                  <a:pt x="1691224" y="0"/>
                </a:lnTo>
                <a:lnTo>
                  <a:pt x="1691224" y="1816078"/>
                </a:lnTo>
                <a:lnTo>
                  <a:pt x="0" y="18160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77420709ab0480b">
              <a:alphaModFix/>
            </a:blip>
            <a:stretch>
              <a:fillRect l="-3688" t="0" r="-3690" b="0"/>
            </a:stretch>
          </a:blipFill>
          <a:ln xmlns:a="http://schemas.openxmlformats.org/drawingml/2006/main">
            <a:noFill/>
          </a:ln>
        </p:spPr>
      </p:sp>
      <p:sp>
        <p:nvSpPr>
          <p:cNvPr id="162" name="Google Shape;162;p20">
            <a:extLst xmlns:a="http://schemas.openxmlformats.org/drawingml/2006/main">
              <a:ext uri="{FF2B5EF4-FFF2-40B4-BE49-F238E27FC236}">
                <a16:creationId xmlns:a16="http://schemas.microsoft.com/office/drawing/2014/main" id="{7F577E3F-3323-45D0-A152-F64CB3FA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593" y="446116"/>
            <a:ext cx="2560807" cy="1165167"/>
          </a:xfrm>
          <a:custGeom xmlns:a="http://schemas.openxmlformats.org/drawingml/2006/main">
            <a:rect l="l" t="t" r="r" b="b"/>
            <a:pathLst>
              <a:path w="2560807" h="1165167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a5a8cda307cc4997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63" name="Google Shape;163;p20">
            <a:extLst xmlns:a="http://schemas.openxmlformats.org/drawingml/2006/main">
              <a:ext uri="{FF2B5EF4-FFF2-40B4-BE49-F238E27FC236}">
                <a16:creationId xmlns:a16="http://schemas.microsoft.com/office/drawing/2014/main" id="{E05D164A-62B0-4C7E-AD5F-4A4C902A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"/>
            <a:ext cx="12801600" cy="9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Feasibility and next steps</a:t>
            </a:r>
            <a:endParaRPr/>
          </a:p>
        </p:txBody>
      </p:sp>
      <p:sp>
        <p:nvSpPr>
          <p:cNvPr id="164" name="Google Shape;164;p20">
            <a:extLst xmlns:a="http://schemas.openxmlformats.org/drawingml/2006/main">
              <a:ext uri="{FF2B5EF4-FFF2-40B4-BE49-F238E27FC236}">
                <a16:creationId xmlns:a16="http://schemas.microsoft.com/office/drawing/2014/main" id="{6A8C0C01-86D0-49C8-918B-F0814C738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8458200" cy="3657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CAN THIS BE BUILT FOR REAL?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Runs locally for text PDFs. AMD explanations and Care Agent answers need a backend key and network. Scanned PDFs need optional local OCR.</a:t>
            </a:r>
            <a:endParaRPr/>
          </a:p>
        </p:txBody>
      </p:sp>
      <p:sp>
        <p:nvSpPr>
          <p:cNvPr id="165" name="Google Shape;165;p20">
            <a:extLst xmlns:a="http://schemas.openxmlformats.org/drawingml/2006/main">
              <a:ext uri="{FF2B5EF4-FFF2-40B4-BE49-F238E27FC236}">
                <a16:creationId xmlns:a16="http://schemas.microsoft.com/office/drawing/2014/main" id="{60D0C9C3-D023-4743-B46E-E7A176F1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240280"/>
            <a:ext cx="8458200" cy="3657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WHO USES IT, WHAT CHANGES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Patients and family caregivers get one source-linked checklist and clearer questions to take to their care team.</a:t>
            </a:r>
            <a:endParaRPr/>
          </a:p>
        </p:txBody>
      </p:sp>
      <p:sp>
        <p:nvSpPr>
          <p:cNvPr id="166" name="Google Shape;166;p20">
            <a:extLst xmlns:a="http://schemas.openxmlformats.org/drawingml/2006/main">
              <a:ext uri="{FF2B5EF4-FFF2-40B4-BE49-F238E27FC236}">
                <a16:creationId xmlns:a16="http://schemas.microsoft.com/office/drawing/2014/main" id="{7400F718-3E6A-419E-8FCF-5A5D8EA5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172200"/>
            <a:ext cx="8458200" cy="3657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WHAT DIDN'T WORK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Broad OCR and automatic whole-site translation remain outside this MVP. No caregiver comprehension study has been run.</a:t>
            </a:r>
            <a:endParaRPr/>
          </a:p>
        </p:txBody>
      </p:sp>
      <p:sp>
        <p:nvSpPr>
          <p:cNvPr id="167" name="Google Shape;167;p20">
            <a:extLst xmlns:a="http://schemas.openxmlformats.org/drawingml/2006/main">
              <a:ext uri="{FF2B5EF4-FFF2-40B4-BE49-F238E27FC236}">
                <a16:creationId xmlns:a16="http://schemas.microsoft.com/office/drawing/2014/main" id="{F4B2FE09-4A8B-48DA-9E9D-B08D66B8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6172200"/>
            <a:ext cx="8458200" cy="36576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NEXT 30 DAYS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Run caregiver comprehension sessions.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Ask clinicians to review safety language.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Improve scan support and evaluate more held-out documents.</a:t>
            </a:r>
          </a:p>
        </p:txBody>
      </p:sp>
    </p:spTree>
    <p:extLst>
      <p:ext uri="{BB962C8B-B14F-4D97-AF65-F5344CB8AC3E}">
        <p14:creationId xmlns:p14="http://schemas.microsoft.com/office/powerpoint/2010/main" val="15927409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Google Shape;172;p21">
            <a:extLst xmlns:a="http://schemas.openxmlformats.org/drawingml/2006/main">
              <a:ext uri="{FF2B5EF4-FFF2-40B4-BE49-F238E27FC236}">
                <a16:creationId xmlns:a16="http://schemas.microsoft.com/office/drawing/2014/main" id="{DA4653AF-99FE-4045-8E15-7FC0BBA7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63" y="251689"/>
            <a:ext cx="1691223" cy="1816077"/>
          </a:xfrm>
          <a:custGeom xmlns:a="http://schemas.openxmlformats.org/drawingml/2006/main">
            <a:rect l="l" t="t" r="r" b="b"/>
            <a:pathLst>
              <a:path w="1691223" h="1816077">
                <a:moveTo>
                  <a:pt x="0" y="0"/>
                </a:moveTo>
                <a:lnTo>
                  <a:pt x="1691224" y="0"/>
                </a:lnTo>
                <a:lnTo>
                  <a:pt x="1691224" y="1816078"/>
                </a:lnTo>
                <a:lnTo>
                  <a:pt x="0" y="18160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8704c243116241b0">
              <a:alphaModFix/>
            </a:blip>
            <a:stretch>
              <a:fillRect l="-3688" t="0" r="-3690" b="0"/>
            </a:stretch>
          </a:blipFill>
          <a:ln xmlns:a="http://schemas.openxmlformats.org/drawingml/2006/main">
            <a:noFill/>
          </a:ln>
        </p:spPr>
      </p:sp>
      <p:sp>
        <p:nvSpPr>
          <p:cNvPr id="173" name="Google Shape;173;p21">
            <a:extLst xmlns:a="http://schemas.openxmlformats.org/drawingml/2006/main">
              <a:ext uri="{FF2B5EF4-FFF2-40B4-BE49-F238E27FC236}">
                <a16:creationId xmlns:a16="http://schemas.microsoft.com/office/drawing/2014/main" id="{C3821BD1-F438-4756-A205-CF739A86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593" y="446116"/>
            <a:ext cx="2560807" cy="1165167"/>
          </a:xfrm>
          <a:custGeom xmlns:a="http://schemas.openxmlformats.org/drawingml/2006/main">
            <a:rect l="l" t="t" r="r" b="b"/>
            <a:pathLst>
              <a:path w="2560807" h="1165167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068f87f0be9a4e08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74" name="Google Shape;174;p21">
            <a:extLst xmlns:a="http://schemas.openxmlformats.org/drawingml/2006/main">
              <a:ext uri="{FF2B5EF4-FFF2-40B4-BE49-F238E27FC236}">
                <a16:creationId xmlns:a16="http://schemas.microsoft.com/office/drawing/2014/main" id="{A30E1418-1996-4A9D-99DB-0759DB67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"/>
            <a:ext cx="12801600" cy="9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What the prototype has demonstrated</a:t>
            </a:r>
            <a:endParaRPr/>
          </a:p>
        </p:txBody>
      </p:sp>
      <p:sp>
        <p:nvSpPr>
          <p:cNvPr id="175" name="Google Shape;175;p21">
            <a:extLst xmlns:a="http://schemas.openxmlformats.org/drawingml/2006/main">
              <a:ext uri="{FF2B5EF4-FFF2-40B4-BE49-F238E27FC236}">
                <a16:creationId xmlns:a16="http://schemas.microsoft.com/office/drawing/2014/main" id="{911CE465-132C-49BC-983D-546C956F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17190600" cy="75894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SYNTHETIC EVALUATION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110/110 extraction checks passed across 11 synthetic documents, with 0 clinically significant errors recorded. The held-out set passed 32/32 checks. Calendar checks placed 7/7 dated visits correctly, kept 4/4 undated visits off calendar, and created 0 invented visits. These small, hand-written tests do not establish clinical safety or patient comprehension.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67187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0" name="Google Shape;180;p22">
            <a:extLst xmlns:a="http://schemas.openxmlformats.org/drawingml/2006/main">
              <a:ext uri="{FF2B5EF4-FFF2-40B4-BE49-F238E27FC236}">
                <a16:creationId xmlns:a16="http://schemas.microsoft.com/office/drawing/2014/main" id="{74ECEA99-1DE0-478E-9136-0ABEEC76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663" y="251689"/>
            <a:ext cx="1691223" cy="1816077"/>
          </a:xfrm>
          <a:custGeom xmlns:a="http://schemas.openxmlformats.org/drawingml/2006/main">
            <a:rect l="l" t="t" r="r" b="b"/>
            <a:pathLst>
              <a:path w="1691223" h="1816077">
                <a:moveTo>
                  <a:pt x="0" y="0"/>
                </a:moveTo>
                <a:lnTo>
                  <a:pt x="1691224" y="0"/>
                </a:lnTo>
                <a:lnTo>
                  <a:pt x="1691224" y="1816078"/>
                </a:lnTo>
                <a:lnTo>
                  <a:pt x="0" y="181607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69b412de167d487d">
              <a:alphaModFix/>
            </a:blip>
            <a:stretch>
              <a:fillRect l="-3688" t="0" r="-3690" b="0"/>
            </a:stretch>
          </a:blipFill>
          <a:ln xmlns:a="http://schemas.openxmlformats.org/drawingml/2006/main">
            <a:noFill/>
          </a:ln>
        </p:spPr>
      </p:sp>
      <p:sp>
        <p:nvSpPr>
          <p:cNvPr id="181" name="Google Shape;181;p22">
            <a:extLst xmlns:a="http://schemas.openxmlformats.org/drawingml/2006/main">
              <a:ext uri="{FF2B5EF4-FFF2-40B4-BE49-F238E27FC236}">
                <a16:creationId xmlns:a16="http://schemas.microsoft.com/office/drawing/2014/main" id="{5848DC0A-8853-4974-8EDD-2D9E83DD8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7593" y="446116"/>
            <a:ext cx="2560807" cy="1165167"/>
          </a:xfrm>
          <a:custGeom xmlns:a="http://schemas.openxmlformats.org/drawingml/2006/main">
            <a:rect l="l" t="t" r="r" b="b"/>
            <a:pathLst>
              <a:path w="2560807" h="1165167">
                <a:moveTo>
                  <a:pt x="0" y="0"/>
                </a:moveTo>
                <a:lnTo>
                  <a:pt x="2560807" y="0"/>
                </a:lnTo>
                <a:lnTo>
                  <a:pt x="2560807" y="1165168"/>
                </a:lnTo>
                <a:lnTo>
                  <a:pt x="0" y="1165168"/>
                </a:lnTo>
                <a:lnTo>
                  <a:pt x="0" y="0"/>
                </a:lnTo>
                <a:close/>
              </a:path>
            </a:pathLst>
          </a:custGeom>
          <a:blipFill xmlns:a="http://schemas.openxmlformats.org/drawingml/2006/main" rotWithShape="1">
            <a:blip xmlns:r="http://schemas.openxmlformats.org/officeDocument/2006/relationships" r:embed="R698e21da084e4d18">
              <a:alphaModFix/>
            </a:blip>
            <a:stretch>
              <a:fillRect l="0" t="0" r="0" b="0"/>
            </a:stretch>
          </a:blipFill>
          <a:ln xmlns:a="http://schemas.openxmlformats.org/drawingml/2006/main">
            <a:noFill/>
          </a:ln>
        </p:spPr>
      </p:sp>
      <p:sp>
        <p:nvSpPr>
          <p:cNvPr id="182" name="Google Shape;182;p22">
            <a:extLst xmlns:a="http://schemas.openxmlformats.org/drawingml/2006/main">
              <a:ext uri="{FF2B5EF4-FFF2-40B4-BE49-F238E27FC236}">
                <a16:creationId xmlns:a16="http://schemas.microsoft.com/office/drawing/2014/main" id="{A788E0A2-D7AE-4264-881A-9E36B65F0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02920"/>
            <a:ext cx="12801600" cy="91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 | ClearCare</a:t>
            </a:r>
            <a:endParaRPr/>
          </a:p>
        </p:txBody>
      </p:sp>
      <p:sp>
        <p:nvSpPr>
          <p:cNvPr id="183" name="Google Shape;183;p22">
            <a:extLst xmlns:a="http://schemas.openxmlformats.org/drawingml/2006/main">
              <a:ext uri="{FF2B5EF4-FFF2-40B4-BE49-F238E27FC236}">
                <a16:creationId xmlns:a16="http://schemas.microsoft.com/office/drawing/2014/main" id="{8FBB173E-73F8-4632-92EC-7C232F62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40280"/>
            <a:ext cx="17190720" cy="758952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71717"/>
          </a:solidFill>
          <a:ln xmlns:a="http://schemas.openxmlformats.org/drawingml/2006/main" w="12700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274300" tIns="201150" rIns="274300" bIns="13715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strike="noStrike" cap="none">
                <a:solidFill>
                  <a:srgbClr val="7ED957"/>
                </a:solidFill>
                <a:latin typeface="Arial"/>
                <a:ea typeface="Arial"/>
                <a:cs typeface="Arial"/>
              </a:rPr>
              <a:t>REFERENCES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PROJECT REPOSITORY</a:t>
            </a:r>
            <a:endParaRPr/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https://github.com/1stsimplifycode/ClearCare-Understand-My-Care-Instructions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AMD API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https://developer.amd.com.cn/radeon/api/v1 · DeepSeek-V4-Flash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EVALUATION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Synthetic fixtures and measured results: docs/evidence/extraction-eval.json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DEMO VIDEO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CLEARCARE_AMD_ACT_III_SUBMISSION/videos/CLEARCARE_AMD_ACT_III_DEMO.mp4</a:t>
            </a: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sz="2600" b="0" i="0" u="none" strike="noStrike" cap="none">
                <a:solidFill>
                  <a:srgbClr val="A6A6A6"/>
                </a:solidFill>
                <a:latin typeface="Arial"/>
                <a:ea typeface="Arial"/>
                <a:cs typeface="Arial"/>
              </a:rPr>
              <a:t>Synthetic data only · Prototype, not for clinical use</a:t>
            </a:r>
          </a:p>
        </p:txBody>
      </p:sp>
    </p:spTree>
    <p:extLst>
      <p:ext uri="{BB962C8B-B14F-4D97-AF65-F5344CB8AC3E}">
        <p14:creationId xmlns:p14="http://schemas.microsoft.com/office/powerpoint/2010/main" val="175447474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ED957"/>
      </a:hlink>
      <a:folHlink>
        <a:srgbClr val="7ED95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2026-10-18T12:33:34.5390000Z</dcterms:created>
  <dcterms:modified xsi:type="dcterms:W3CDTF">2026-10-18T12:33:34.5400000Z</dcterms:modified>
</coreProperties>
</file>